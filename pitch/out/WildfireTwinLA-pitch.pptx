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During a wildfire, sending a warning is only the beginning. A conversation can confirm that someone received it, or that they need a person. With limited staff, the practical question is whom to contact first. These three cards are simulated outcomes from our demo dispatcher; every resident and phone number is fictional.</a:t>
            </a:r>
          </a:p>
          <a:p/>
          <a:p>
            <a:r>
              <a:t>Evidence: CAL FIRE's Norte incident page lists a Public Information Hotline, which shows voice still matters. We make no claim that calls beat texts or save lives.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Wildfires are burning in Southern California this week: Bryson near Malibu, Peak near Azusa, and Norte in Orange County, our case study. What you see is an after-the-fact replay of Norte on October 16, built from public data: the reported ignition, NASA VIIRS satellite passes and archived NOAA HRRR wind. It is a replay, not a live feed. Bryson and Peak are regional context from CAL FIRE pages; our app only displays Norte.</a:t>
            </a:r>
          </a:p>
          <a:p/>
          <a:p>
            <a:r>
              <a:t>Source times: CAL FIRE pages retrieved Oct 17, 2026, 7:10–7:19 PM PDT. Norte is led by the Orange County Fire Authority.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Our seat is the overnight supervisor of a call line: too many households, too few people. We tackle one part of that problem: ordering outbound outreach. Today every call and text is simulated. A Retell voice agent is the planned delivery path, returning call outcomes to the same queue. We rank by estimated fire arrival, not by who sounds most urgent on the phone.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live demo] Our rule is simple and inspectable: the sooner the fire is expected at a home, the sooner we call. The estimate uses distance to the nearest simulated burning cell plus the wind, or the model's own arrival time when it has one. Residents flagged with access needs move up five minutes. Six lines run in parallel; each card shows the call and then its outcome. On the map, every home's status sits above its roof.</a:t>
            </a:r>
          </a:p>
          <a:p/>
          <a:p>
            <a:r>
              <a:t>Demo: start the Norte replay; open the contact panel; hover queue row 1 to highlight the house; click to fly there; compare with a row further down that has a later arrival time; watch a line card turn into Confirmed safe or No answer.</a:t>
            </a:r>
          </a:p>
          <a:p/>
          <a:p>
            <a:r>
              <a:t>Numbers are from the fictional 555-01 range. Being farther away never means someone is safe.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The same map has an everyday use. A community planner or Fire Safe Council can explore where preventive treatments might help, before any fire starts. That keeps the tool useful between emergencies, so it is already in place when one comes.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pre-run result] We drew a fuel break downwind of the Norte ignition and compared it with no treatment and two algorithm plans: same ignition, wind and 8-hour horizon, five simulation runs each. Our $25k break reached 422 buildings against 419 untreated; the greedy plan reached 389 for $52k. All of these differences are inside the run-to-run noise of about 58 buildings, so the table shows approximately zero instead of claiming homes saved. That is the point: planners see the uncertainty, not a promise. Fuel breaks can be crossed by embers, and prescribed burns are for authorized professionals.</a:t>
            </a:r>
          </a:p>
          <a:p/>
          <a:p>
            <a:r>
              <a:t>This comparison was run before the pitch (GPU, about half a minute); do not launch it live.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Today's prototype combines committed real geographic data, public fire observations and archived wind. Satellite detections in the demo come from the replay; live pollers exist in the backend but are not configured. The map knows buildings, not people: every resident contact here is synthetic, and the numbers can never ring a real phone. Community areas are approximations, not official evacuation zones.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A real deployment needs verified contact records through opt-in enrollment or an approved agency partnership, agency-approved zones and messages, and independent validation. We are not assuming government phone records are available.</a:t>
            </a:r>
          </a:p>
          <a:p/>
          <a:p>
            <a:r>
              <a:t>Twist 1, funding: our primary pathway is the USDA Forest Service Community Wildfire Defense Grant, which funds community wildfire protection plans; we would join an eligible community application. The alternative is NSF SBIR, reauthorized through 2031.</a:t>
            </a:r>
          </a:p>
          <a:p/>
          <a:p>
            <a:r>
              <a:t>Twist 2, going global: fire detections, imagery, elevation and global weather models carry over anywhere. Fuel maps, building footprints, zones, consent and telephony rules need local work. Retell supports Mandarin voice agents. Expanding is more than changing a bounding 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An unanswered call is retried once after three minutes. If it still fails, that household's text moves up the queue. Both steps run in our simulation today. But a delivered text is not an acknowledgement; capturing replies is planned. Unresolved contacts stay visible to the operator. If data goes stale or phone networks fail, we show that uncertainty instead of promising contact.</a:t>
            </a:r>
          </a:p>
          <a:p/>
          <a:p>
            <a:r>
              <a:t>Terminology: these are ordinary SMS follow-ups, not AMBER Alerts or Wireless Emergency Alerts. Evacuation orders stay with authorized officials, and a help flag is not a promise of rescue.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Our contribution is the connection: plan prevention before a fire, then use the same geographic context to organize outreach during one. The operator can see why a household is high in the queue and which contacts remain unresolved.</a:t>
            </a:r>
          </a:p>
          <a:p/>
          <a:p>
            <a:r>
              <a:t>Working today: real Norte data, the public-data replay, the GPU fire simulator and 64-run forecast, treatment comparison, and the simulated contact pipeline with the map and queue. Simulated or planned: real Retell calls, SMS delivery, reply capture, and a configured live feed. Next step: a small pilot with consenting volunteers.</a:t>
            </a:r>
          </a:p>
          <a:p/>
          <a:p>
            <a:r>
              <a:t>Responsible use: the tool could be misused to contact people without consent or to overstate model predictions. We limit that with fictional demo data, masked contact details, consent-gated real calls, and labels that separate observations, model outputs and official orders.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pic>
        <p:nvPicPr>
          <p:cNvPr id="5" name="Picture 4" descr="P2a-replay-overview.png"/>
          <p:cNvPicPr>
            <a:picLocks noChangeAspect="1"/>
          </p:cNvPicPr>
          <p:nvPr/>
        </p:nvPicPr>
        <p:blipFill>
          <a:blip r:embed="rId3"/>
          <a:stretch>
            <a:fillRect/>
          </a:stretch>
        </p:blipFill>
        <p:spPr>
          <a:xfrm>
            <a:off x="0" y="0"/>
            <a:ext cx="12191695" cy="6857828"/>
          </a:xfrm>
          <a:prstGeom prst="rect">
            <a:avLst/>
          </a:prstGeom>
        </p:spPr>
      </p:pic>
      <p:sp>
        <p:nvSpPr>
          <p:cNvPr id="6" name="Rectangle 5"/>
          <p:cNvSpPr/>
          <p:nvPr/>
        </p:nvSpPr>
        <p:spPr>
          <a:xfrm>
            <a:off x="0" y="0"/>
            <a:ext cx="12191695" cy="6858000"/>
          </a:xfrm>
          <a:prstGeom prst="rect">
            <a:avLst/>
          </a:prstGeom>
          <a:solidFill>
            <a:srgbClr val="1E1A17">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A warning sent isn’t a person reached.</a:t>
            </a:r>
          </a:p>
        </p:txBody>
      </p:sp>
      <p:sp>
        <p:nvSpPr>
          <p:cNvPr id="3" name="TextBox 2"/>
          <p:cNvSpPr txBox="1"/>
          <p:nvPr/>
        </p:nvSpPr>
        <p:spPr>
          <a:xfrm>
            <a:off x="548640" y="987552"/>
            <a:ext cx="11064240" cy="457200"/>
          </a:xfrm>
          <a:prstGeom prst="rect">
            <a:avLst/>
          </a:prstGeom>
          <a:noFill/>
        </p:spPr>
        <p:txBody>
          <a:bodyPr wrap="square" lIns="18288" rIns="18288" tIns="18288" bIns="18288" anchor="t">
            <a:spAutoFit/>
          </a:bodyPr>
          <a:lstStyle/>
          <a:p>
            <a:pPr algn="l">
              <a:lnSpc>
                <a:spcPct val="110000"/>
              </a:lnSpc>
            </a:pPr>
            <a:r>
              <a:rPr sz="2000" b="0" i="0">
                <a:solidFill>
                  <a:srgbClr val="A9ABA4"/>
                </a:solidFill>
                <a:latin typeface="Barlow"/>
              </a:rPr>
              <a:t>WildfireTwinLA — from fire information to prioritized outreach.</a:t>
            </a:r>
          </a:p>
        </p:txBody>
      </p:sp>
      <p:sp>
        <p:nvSpPr>
          <p:cNvPr id="4" name="TextBox 3"/>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1</a:t>
            </a:r>
          </a:p>
        </p:txBody>
      </p:sp>
      <p:sp>
        <p:nvSpPr>
          <p:cNvPr id="7" name="TextBox 6"/>
          <p:cNvSpPr txBox="1"/>
          <p:nvPr/>
        </p:nvSpPr>
        <p:spPr>
          <a:xfrm>
            <a:off x="548640" y="1828800"/>
            <a:ext cx="5669280" cy="2926080"/>
          </a:xfrm>
          <a:prstGeom prst="rect">
            <a:avLst/>
          </a:prstGeom>
          <a:noFill/>
        </p:spPr>
        <p:txBody>
          <a:bodyPr wrap="square" lIns="18288" rIns="18288" tIns="18288" bIns="18288" anchor="t">
            <a:spAutoFit/>
          </a:bodyPr>
          <a:lstStyle/>
          <a:p>
            <a:pPr algn="l">
              <a:lnSpc>
                <a:spcPct val="110000"/>
              </a:lnSpc>
              <a:spcAft>
                <a:spcPts val="2200"/>
              </a:spcAft>
            </a:pPr>
            <a:r>
              <a:rPr sz="2800" b="0" i="0">
                <a:solidFill>
                  <a:srgbClr val="D63A73"/>
                </a:solidFill>
                <a:latin typeface="Barlow"/>
              </a:rPr>
              <a:t>▪  </a:t>
            </a:r>
            <a:r>
              <a:rPr sz="2800" b="0" i="0">
                <a:solidFill>
                  <a:srgbClr val="E5E7E1"/>
                </a:solidFill>
                <a:latin typeface="Barlow"/>
              </a:rPr>
              <a:t>Confirm that someone received the message.</a:t>
            </a:r>
          </a:p>
          <a:p>
            <a:pPr algn="l">
              <a:lnSpc>
                <a:spcPct val="110000"/>
              </a:lnSpc>
              <a:spcAft>
                <a:spcPts val="2200"/>
              </a:spcAft>
            </a:pPr>
            <a:r>
              <a:rPr sz="2800" b="0" i="0">
                <a:solidFill>
                  <a:srgbClr val="D63A73"/>
                </a:solidFill>
                <a:latin typeface="Barlow"/>
              </a:rPr>
              <a:t>▪  </a:t>
            </a:r>
            <a:r>
              <a:rPr sz="2800" b="0" i="0">
                <a:solidFill>
                  <a:srgbClr val="E5E7E1"/>
                </a:solidFill>
                <a:latin typeface="Barlow"/>
              </a:rPr>
              <a:t>Let them ask for repetition or help.</a:t>
            </a:r>
          </a:p>
          <a:p>
            <a:pPr algn="l">
              <a:lnSpc>
                <a:spcPct val="110000"/>
              </a:lnSpc>
              <a:spcAft>
                <a:spcPts val="2200"/>
              </a:spcAft>
            </a:pPr>
            <a:r>
              <a:rPr sz="2800" b="0" i="0">
                <a:solidFill>
                  <a:srgbClr val="D63A73"/>
                </a:solidFill>
                <a:latin typeface="Barlow"/>
              </a:rPr>
              <a:t>▪  </a:t>
            </a:r>
            <a:r>
              <a:rPr sz="2800" b="0" i="0">
                <a:solidFill>
                  <a:srgbClr val="E5E7E1"/>
                </a:solidFill>
                <a:latin typeface="Barlow"/>
              </a:rPr>
              <a:t>Keep unanswered contacts visible.</a:t>
            </a:r>
          </a:p>
        </p:txBody>
      </p:sp>
      <p:sp>
        <p:nvSpPr>
          <p:cNvPr id="8" name="TextBox 7"/>
          <p:cNvSpPr txBox="1"/>
          <p:nvPr/>
        </p:nvSpPr>
        <p:spPr>
          <a:xfrm>
            <a:off x="6766560" y="1783080"/>
            <a:ext cx="4754880" cy="320040"/>
          </a:xfrm>
          <a:prstGeom prst="rect">
            <a:avLst/>
          </a:prstGeom>
          <a:noFill/>
        </p:spPr>
        <p:txBody>
          <a:bodyPr wrap="square" lIns="18288" rIns="18288" tIns="18288" bIns="18288" anchor="t">
            <a:spAutoFit/>
          </a:bodyPr>
          <a:lstStyle/>
          <a:p>
            <a:pPr algn="l">
              <a:lnSpc>
                <a:spcPct val="110000"/>
              </a:lnSpc>
            </a:pPr>
            <a:r>
              <a:rPr sz="1400" b="1" i="0">
                <a:solidFill>
                  <a:srgbClr val="E5E7E1"/>
                </a:solidFill>
                <a:latin typeface="Barlow"/>
              </a:rPr>
              <a:t>ACKNOWLEDGED</a:t>
            </a:r>
          </a:p>
        </p:txBody>
      </p:sp>
      <p:pic>
        <p:nvPicPr>
          <p:cNvPr id="9" name="Picture 8" descr="P1-confirmed.png"/>
          <p:cNvPicPr>
            <a:picLocks noChangeAspect="1"/>
          </p:cNvPicPr>
          <p:nvPr/>
        </p:nvPicPr>
        <p:blipFill>
          <a:blip r:embed="rId4"/>
          <a:stretch>
            <a:fillRect/>
          </a:stretch>
        </p:blipFill>
        <p:spPr>
          <a:xfrm>
            <a:off x="6766560" y="2130552"/>
            <a:ext cx="4846320" cy="1041880"/>
          </a:xfrm>
          <a:prstGeom prst="rect">
            <a:avLst/>
          </a:prstGeom>
          <a:ln w="9525">
            <a:solidFill>
              <a:srgbClr val="453C37"/>
            </a:solidFill>
          </a:ln>
        </p:spPr>
      </p:pic>
      <p:sp>
        <p:nvSpPr>
          <p:cNvPr id="10" name="TextBox 9"/>
          <p:cNvSpPr txBox="1"/>
          <p:nvPr/>
        </p:nvSpPr>
        <p:spPr>
          <a:xfrm>
            <a:off x="6766560" y="3401032"/>
            <a:ext cx="4754880" cy="320040"/>
          </a:xfrm>
          <a:prstGeom prst="rect">
            <a:avLst/>
          </a:prstGeom>
          <a:noFill/>
        </p:spPr>
        <p:txBody>
          <a:bodyPr wrap="square" lIns="18288" rIns="18288" tIns="18288" bIns="18288" anchor="t">
            <a:spAutoFit/>
          </a:bodyPr>
          <a:lstStyle/>
          <a:p>
            <a:pPr algn="l">
              <a:lnSpc>
                <a:spcPct val="110000"/>
              </a:lnSpc>
            </a:pPr>
            <a:r>
              <a:rPr sz="1400" b="1" i="0">
                <a:solidFill>
                  <a:srgbClr val="E5E7E1"/>
                </a:solidFill>
                <a:latin typeface="Barlow"/>
              </a:rPr>
              <a:t>NO ANSWER</a:t>
            </a:r>
          </a:p>
        </p:txBody>
      </p:sp>
      <p:pic>
        <p:nvPicPr>
          <p:cNvPr id="11" name="Picture 10" descr="P1-missed.png"/>
          <p:cNvPicPr>
            <a:picLocks noChangeAspect="1"/>
          </p:cNvPicPr>
          <p:nvPr/>
        </p:nvPicPr>
        <p:blipFill>
          <a:blip r:embed="rId5"/>
          <a:stretch>
            <a:fillRect/>
          </a:stretch>
        </p:blipFill>
        <p:spPr>
          <a:xfrm>
            <a:off x="6766560" y="3748503"/>
            <a:ext cx="4846320" cy="1041880"/>
          </a:xfrm>
          <a:prstGeom prst="rect">
            <a:avLst/>
          </a:prstGeom>
          <a:ln w="9525">
            <a:solidFill>
              <a:srgbClr val="453C37"/>
            </a:solidFill>
          </a:ln>
        </p:spPr>
      </p:pic>
      <p:sp>
        <p:nvSpPr>
          <p:cNvPr id="12" name="TextBox 11"/>
          <p:cNvSpPr txBox="1"/>
          <p:nvPr/>
        </p:nvSpPr>
        <p:spPr>
          <a:xfrm>
            <a:off x="6766560" y="5018984"/>
            <a:ext cx="4754880" cy="320040"/>
          </a:xfrm>
          <a:prstGeom prst="rect">
            <a:avLst/>
          </a:prstGeom>
          <a:noFill/>
        </p:spPr>
        <p:txBody>
          <a:bodyPr wrap="square" lIns="18288" rIns="18288" tIns="18288" bIns="18288" anchor="t">
            <a:spAutoFit/>
          </a:bodyPr>
          <a:lstStyle/>
          <a:p>
            <a:pPr algn="l">
              <a:lnSpc>
                <a:spcPct val="110000"/>
              </a:lnSpc>
            </a:pPr>
            <a:r>
              <a:rPr sz="1400" b="1" i="0">
                <a:solidFill>
                  <a:srgbClr val="E5E7E1"/>
                </a:solidFill>
                <a:latin typeface="Barlow"/>
              </a:rPr>
              <a:t>NEEDS A PERSON</a:t>
            </a:r>
          </a:p>
        </p:txBody>
      </p:sp>
      <p:pic>
        <p:nvPicPr>
          <p:cNvPr id="13" name="Picture 12" descr="P1-help.png"/>
          <p:cNvPicPr>
            <a:picLocks noChangeAspect="1"/>
          </p:cNvPicPr>
          <p:nvPr/>
        </p:nvPicPr>
        <p:blipFill>
          <a:blip r:embed="rId6"/>
          <a:stretch>
            <a:fillRect/>
          </a:stretch>
        </p:blipFill>
        <p:spPr>
          <a:xfrm>
            <a:off x="6766560" y="5366456"/>
            <a:ext cx="4846320" cy="1247099"/>
          </a:xfrm>
          <a:prstGeom prst="rect">
            <a:avLst/>
          </a:prstGeom>
          <a:ln w="9525">
            <a:solidFill>
              <a:srgbClr val="453C37"/>
            </a:solidFill>
          </a:ln>
        </p:spPr>
      </p:pic>
      <p:sp>
        <p:nvSpPr>
          <p:cNvPr id="14" name="Rounded Rectangle 13"/>
          <p:cNvSpPr/>
          <p:nvPr/>
        </p:nvSpPr>
        <p:spPr>
          <a:xfrm>
            <a:off x="6766560" y="6860443"/>
            <a:ext cx="1778507" cy="292608"/>
          </a:xfrm>
          <a:prstGeom prst="roundRect">
            <a:avLst>
              <a:gd name="adj" fmla="val 12000"/>
            </a:avLst>
          </a:prstGeom>
          <a:noFill/>
          <a:ln w="15875">
            <a:solidFill>
              <a:srgbClr val="D63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6892447"/>
            <a:ext cx="1778507" cy="246888"/>
          </a:xfrm>
          <a:prstGeom prst="rect">
            <a:avLst/>
          </a:prstGeom>
          <a:noFill/>
        </p:spPr>
        <p:txBody>
          <a:bodyPr wrap="square" lIns="18288" rIns="18288" tIns="18288" bIns="18288" anchor="t">
            <a:spAutoFit/>
          </a:bodyPr>
          <a:lstStyle/>
          <a:p>
            <a:pPr algn="ctr">
              <a:lnSpc>
                <a:spcPct val="110000"/>
              </a:lnSpc>
            </a:pPr>
            <a:r>
              <a:rPr sz="1200" b="1" i="0">
                <a:solidFill>
                  <a:srgbClr val="D63A73"/>
                </a:solidFill>
                <a:latin typeface="Barlow"/>
              </a:rPr>
              <a:t>SIMULATED CONTACT</a:t>
            </a:r>
          </a:p>
        </p:txBody>
      </p:sp>
      <p:sp>
        <p:nvSpPr>
          <p:cNvPr id="16" name="TextBox 15"/>
          <p:cNvSpPr txBox="1"/>
          <p:nvPr/>
        </p:nvSpPr>
        <p:spPr>
          <a:xfrm>
            <a:off x="8654796" y="6892447"/>
            <a:ext cx="5486400" cy="274320"/>
          </a:xfrm>
          <a:prstGeom prst="rect">
            <a:avLst/>
          </a:prstGeom>
          <a:noFill/>
        </p:spPr>
        <p:txBody>
          <a:bodyPr wrap="square" lIns="18288" rIns="18288" tIns="18288" bIns="18288" anchor="t">
            <a:spAutoFit/>
          </a:bodyPr>
          <a:lstStyle/>
          <a:p>
            <a:pPr algn="l">
              <a:lnSpc>
                <a:spcPct val="110000"/>
              </a:lnSpc>
            </a:pPr>
            <a:r>
              <a:rPr sz="1300" b="0" i="0">
                <a:solidFill>
                  <a:srgbClr val="A9ABA4"/>
                </a:solidFill>
                <a:latin typeface="Barlow"/>
              </a:rPr>
              <a:t>Outcomes from the demo dispatcher; fictional residents</a:t>
            </a:r>
          </a:p>
        </p:txBody>
      </p:sp>
      <p:sp>
        <p:nvSpPr>
          <p:cNvPr id="17" name="TextBox 16"/>
          <p:cNvSpPr txBox="1"/>
          <p:nvPr/>
        </p:nvSpPr>
        <p:spPr>
          <a:xfrm>
            <a:off x="548640" y="6455664"/>
            <a:ext cx="1097280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Demo contacts and call outcomes are fictional.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Real fires. A local decision.</a:t>
            </a:r>
          </a:p>
        </p:txBody>
      </p:sp>
      <p:sp>
        <p:nvSpPr>
          <p:cNvPr id="3" name="TextBox 2"/>
          <p:cNvSpPr txBox="1"/>
          <p:nvPr/>
        </p:nvSpPr>
        <p:spPr>
          <a:xfrm>
            <a:off x="548640" y="987552"/>
            <a:ext cx="11064240" cy="457200"/>
          </a:xfrm>
          <a:prstGeom prst="rect">
            <a:avLst/>
          </a:prstGeom>
          <a:noFill/>
        </p:spPr>
        <p:txBody>
          <a:bodyPr wrap="square" lIns="18288" rIns="18288" tIns="18288" bIns="18288" anchor="t">
            <a:spAutoFit/>
          </a:bodyPr>
          <a:lstStyle/>
          <a:p>
            <a:pPr algn="l">
              <a:lnSpc>
                <a:spcPct val="110000"/>
              </a:lnSpc>
            </a:pPr>
            <a:r>
              <a:rPr sz="2000" b="0" i="0">
                <a:solidFill>
                  <a:srgbClr val="A9ABA4"/>
                </a:solidFill>
                <a:latin typeface="Barlow"/>
              </a:rPr>
              <a:t>Public fire observations, geographic context and experimental spread scenarios.</a:t>
            </a:r>
          </a:p>
        </p:txBody>
      </p:sp>
      <p:sp>
        <p:nvSpPr>
          <p:cNvPr id="4" name="TextBox 3"/>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2</a:t>
            </a:r>
          </a:p>
        </p:txBody>
      </p:sp>
      <p:sp>
        <p:nvSpPr>
          <p:cNvPr id="5" name="TextBox 4"/>
          <p:cNvSpPr txBox="1"/>
          <p:nvPr/>
        </p:nvSpPr>
        <p:spPr>
          <a:xfrm>
            <a:off x="548640" y="6455664"/>
            <a:ext cx="1024128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Experimental, unofficial model outputs. Demo contacts and call outcomes are fictional. Follow official evacuation instructions.</a:t>
            </a:r>
          </a:p>
        </p:txBody>
      </p:sp>
      <p:pic>
        <p:nvPicPr>
          <p:cNvPr id="6" name="Picture 5" descr="P2a-replay-overview.png"/>
          <p:cNvPicPr>
            <a:picLocks noChangeAspect="1"/>
          </p:cNvPicPr>
          <p:nvPr/>
        </p:nvPicPr>
        <p:blipFill>
          <a:blip r:embed="rId3"/>
          <a:stretch>
            <a:fillRect/>
          </a:stretch>
        </p:blipFill>
        <p:spPr>
          <a:xfrm>
            <a:off x="548640" y="1554480"/>
            <a:ext cx="7406640" cy="4166235"/>
          </a:xfrm>
          <a:prstGeom prst="rect">
            <a:avLst/>
          </a:prstGeom>
          <a:ln w="9525">
            <a:solidFill>
              <a:srgbClr val="453C37"/>
            </a:solidFill>
          </a:ln>
        </p:spPr>
      </p:pic>
      <p:sp>
        <p:nvSpPr>
          <p:cNvPr id="7" name="Rounded Rectangle 6"/>
          <p:cNvSpPr/>
          <p:nvPr/>
        </p:nvSpPr>
        <p:spPr>
          <a:xfrm>
            <a:off x="548640" y="5806440"/>
            <a:ext cx="722376" cy="292608"/>
          </a:xfrm>
          <a:prstGeom prst="roundRect">
            <a:avLst>
              <a:gd name="adj" fmla="val 12000"/>
            </a:avLst>
          </a:prstGeom>
          <a:noFill/>
          <a:ln w="15875">
            <a:solidFill>
              <a:srgbClr val="8C8E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838444"/>
            <a:ext cx="722376" cy="246888"/>
          </a:xfrm>
          <a:prstGeom prst="rect">
            <a:avLst/>
          </a:prstGeom>
          <a:noFill/>
        </p:spPr>
        <p:txBody>
          <a:bodyPr wrap="square" lIns="18288" rIns="18288" tIns="18288" bIns="18288" anchor="t">
            <a:spAutoFit/>
          </a:bodyPr>
          <a:lstStyle/>
          <a:p>
            <a:pPr algn="ctr">
              <a:lnSpc>
                <a:spcPct val="110000"/>
              </a:lnSpc>
            </a:pPr>
            <a:r>
              <a:rPr sz="1200" b="1" i="0">
                <a:solidFill>
                  <a:srgbClr val="8C8E88"/>
                </a:solidFill>
                <a:latin typeface="Barlow"/>
              </a:rPr>
              <a:t>REPLAY</a:t>
            </a:r>
          </a:p>
        </p:txBody>
      </p:sp>
      <p:sp>
        <p:nvSpPr>
          <p:cNvPr id="9" name="TextBox 8"/>
          <p:cNvSpPr txBox="1"/>
          <p:nvPr/>
        </p:nvSpPr>
        <p:spPr>
          <a:xfrm>
            <a:off x="1417320" y="5815584"/>
            <a:ext cx="6583680" cy="54864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Norte Fire, Orange County — after-the-fact replay of Oct 16, 2026 at T + 2 h 15 m (≈1:48 p.m. PDT), from NIFC incident records, NASA FIRMS VIIRS and NOAA HRRR wind. Not live.</a:t>
            </a:r>
          </a:p>
        </p:txBody>
      </p:sp>
      <p:sp>
        <p:nvSpPr>
          <p:cNvPr id="10" name="Rounded Rectangle 9"/>
          <p:cNvSpPr/>
          <p:nvPr/>
        </p:nvSpPr>
        <p:spPr>
          <a:xfrm>
            <a:off x="8229600" y="1554480"/>
            <a:ext cx="3429000" cy="4709160"/>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664208"/>
            <a:ext cx="3108960" cy="365760"/>
          </a:xfrm>
          <a:prstGeom prst="rect">
            <a:avLst/>
          </a:prstGeom>
          <a:noFill/>
        </p:spPr>
        <p:txBody>
          <a:bodyPr wrap="square" lIns="18288" rIns="18288" tIns="18288" bIns="18288" anchor="t">
            <a:spAutoFit/>
          </a:bodyPr>
          <a:lstStyle/>
          <a:p>
            <a:pPr algn="l">
              <a:lnSpc>
                <a:spcPct val="110000"/>
              </a:lnSpc>
            </a:pPr>
            <a:r>
              <a:rPr sz="1700" b="1" i="0">
                <a:solidFill>
                  <a:srgbClr val="E5E7E1"/>
                </a:solidFill>
                <a:latin typeface="Barlow"/>
              </a:rPr>
              <a:t>Regional context — CAL FIRE</a:t>
            </a:r>
          </a:p>
        </p:txBody>
      </p:sp>
      <p:sp>
        <p:nvSpPr>
          <p:cNvPr id="12" name="TextBox 11"/>
          <p:cNvSpPr txBox="1"/>
          <p:nvPr/>
        </p:nvSpPr>
        <p:spPr>
          <a:xfrm>
            <a:off x="8412480" y="2084831"/>
            <a:ext cx="3108960" cy="822960"/>
          </a:xfrm>
          <a:prstGeom prst="rect">
            <a:avLst/>
          </a:prstGeom>
          <a:noFill/>
        </p:spPr>
        <p:txBody>
          <a:bodyPr wrap="square" lIns="18288" rIns="18288" tIns="18288" bIns="18288" anchor="t">
            <a:spAutoFit/>
          </a:bodyPr>
          <a:lstStyle/>
          <a:p>
            <a:pPr algn="l">
              <a:lnSpc>
                <a:spcPct val="100000"/>
              </a:lnSpc>
            </a:pPr>
            <a:r>
              <a:rPr sz="1700" b="1" i="0">
                <a:solidFill>
                  <a:srgbClr val="F26A1B"/>
                </a:solidFill>
                <a:latin typeface="Barlow"/>
              </a:rPr>
              <a:t>Norte</a:t>
            </a:r>
          </a:p>
          <a:p>
            <a:pPr algn="l">
              <a:lnSpc>
                <a:spcPct val="100000"/>
              </a:lnSpc>
            </a:pPr>
            <a:r>
              <a:rPr sz="1300" b="0" i="0">
                <a:solidFill>
                  <a:srgbClr val="A9ABA4"/>
                </a:solidFill>
                <a:latin typeface="Barlow"/>
              </a:rPr>
              <a:t>San Clemente, Orange County · lead: OCFA</a:t>
            </a:r>
          </a:p>
          <a:p>
            <a:pPr algn="l">
              <a:lnSpc>
                <a:spcPct val="100000"/>
              </a:lnSpc>
            </a:pPr>
            <a:r>
              <a:rPr sz="1500" b="0" i="0">
                <a:solidFill>
                  <a:srgbClr val="E5E7E1"/>
                </a:solidFill>
                <a:latin typeface="Barlow"/>
              </a:rPr>
              <a:t>570 acres · 25% contained</a:t>
            </a:r>
          </a:p>
        </p:txBody>
      </p:sp>
      <p:sp>
        <p:nvSpPr>
          <p:cNvPr id="13" name="TextBox 12"/>
          <p:cNvSpPr txBox="1"/>
          <p:nvPr/>
        </p:nvSpPr>
        <p:spPr>
          <a:xfrm>
            <a:off x="8412480" y="2871215"/>
            <a:ext cx="3108960" cy="822960"/>
          </a:xfrm>
          <a:prstGeom prst="rect">
            <a:avLst/>
          </a:prstGeom>
          <a:noFill/>
        </p:spPr>
        <p:txBody>
          <a:bodyPr wrap="square" lIns="18288" rIns="18288" tIns="18288" bIns="18288" anchor="t">
            <a:spAutoFit/>
          </a:bodyPr>
          <a:lstStyle/>
          <a:p>
            <a:pPr algn="l">
              <a:lnSpc>
                <a:spcPct val="100000"/>
              </a:lnSpc>
            </a:pPr>
            <a:r>
              <a:rPr sz="1700" b="1" i="0">
                <a:solidFill>
                  <a:srgbClr val="E5E7E1"/>
                </a:solidFill>
                <a:latin typeface="Barlow"/>
              </a:rPr>
              <a:t>Bryson</a:t>
            </a:r>
          </a:p>
          <a:p>
            <a:pPr algn="l">
              <a:lnSpc>
                <a:spcPct val="100000"/>
              </a:lnSpc>
            </a:pPr>
            <a:r>
              <a:rPr sz="1300" b="0" i="0">
                <a:solidFill>
                  <a:srgbClr val="A9ABA4"/>
                </a:solidFill>
                <a:latin typeface="Barlow"/>
              </a:rPr>
              <a:t>Malibu area, Los Angeles County</a:t>
            </a:r>
          </a:p>
          <a:p>
            <a:pPr algn="l">
              <a:lnSpc>
                <a:spcPct val="100000"/>
              </a:lnSpc>
            </a:pPr>
            <a:r>
              <a:rPr sz="1500" b="0" i="0">
                <a:solidFill>
                  <a:srgbClr val="E5E7E1"/>
                </a:solidFill>
                <a:latin typeface="Barlow"/>
              </a:rPr>
              <a:t>146 acres · 61% contained</a:t>
            </a:r>
          </a:p>
        </p:txBody>
      </p:sp>
      <p:sp>
        <p:nvSpPr>
          <p:cNvPr id="14" name="TextBox 13"/>
          <p:cNvSpPr txBox="1"/>
          <p:nvPr/>
        </p:nvSpPr>
        <p:spPr>
          <a:xfrm>
            <a:off x="8412480" y="3657599"/>
            <a:ext cx="3108960" cy="822960"/>
          </a:xfrm>
          <a:prstGeom prst="rect">
            <a:avLst/>
          </a:prstGeom>
          <a:noFill/>
        </p:spPr>
        <p:txBody>
          <a:bodyPr wrap="square" lIns="18288" rIns="18288" tIns="18288" bIns="18288" anchor="t">
            <a:spAutoFit/>
          </a:bodyPr>
          <a:lstStyle/>
          <a:p>
            <a:pPr algn="l">
              <a:lnSpc>
                <a:spcPct val="100000"/>
              </a:lnSpc>
            </a:pPr>
            <a:r>
              <a:rPr sz="1700" b="1" i="0">
                <a:solidFill>
                  <a:srgbClr val="E5E7E1"/>
                </a:solidFill>
                <a:latin typeface="Barlow"/>
              </a:rPr>
              <a:t>Peak</a:t>
            </a:r>
          </a:p>
          <a:p>
            <a:pPr algn="l">
              <a:lnSpc>
                <a:spcPct val="100000"/>
              </a:lnSpc>
            </a:pPr>
            <a:r>
              <a:rPr sz="1300" b="0" i="0">
                <a:solidFill>
                  <a:srgbClr val="A9ABA4"/>
                </a:solidFill>
                <a:latin typeface="Barlow"/>
              </a:rPr>
              <a:t>Azusa area, Los Angeles County</a:t>
            </a:r>
          </a:p>
          <a:p>
            <a:pPr algn="l">
              <a:lnSpc>
                <a:spcPct val="100000"/>
              </a:lnSpc>
            </a:pPr>
            <a:r>
              <a:rPr sz="1500" b="0" i="0">
                <a:solidFill>
                  <a:srgbClr val="E5E7E1"/>
                </a:solidFill>
                <a:latin typeface="Barlow"/>
              </a:rPr>
              <a:t>43 acres · 41% contained</a:t>
            </a:r>
          </a:p>
        </p:txBody>
      </p:sp>
      <p:sp>
        <p:nvSpPr>
          <p:cNvPr id="15" name="TextBox 14"/>
          <p:cNvSpPr txBox="1"/>
          <p:nvPr/>
        </p:nvSpPr>
        <p:spPr>
          <a:xfrm>
            <a:off x="8412480" y="4425696"/>
            <a:ext cx="3108960" cy="640080"/>
          </a:xfrm>
          <a:prstGeom prst="rect">
            <a:avLst/>
          </a:prstGeom>
          <a:noFill/>
        </p:spPr>
        <p:txBody>
          <a:bodyPr wrap="square" lIns="18288" rIns="18288" tIns="18288" bIns="18288" anchor="t">
            <a:spAutoFit/>
          </a:bodyPr>
          <a:lstStyle/>
          <a:p>
            <a:pPr algn="l">
              <a:lnSpc>
                <a:spcPct val="100000"/>
              </a:lnSpc>
            </a:pPr>
            <a:r>
              <a:rPr sz="1100" b="0" i="0">
                <a:solidFill>
                  <a:srgbClr val="A9ABA4"/>
                </a:solidFill>
                <a:latin typeface="Barlow"/>
              </a:rPr>
              <a:t>CAL FIRE pages (local agencies lead), updated Oct 17; retrieved 7:10–7:19 PM PDT. Bryson and Peak are not shown in our app.</a:t>
            </a:r>
          </a:p>
        </p:txBody>
      </p:sp>
      <p:pic>
        <p:nvPicPr>
          <p:cNvPr id="16" name="Picture 15" descr="W4-news-norte-1.png"/>
          <p:cNvPicPr>
            <a:picLocks noChangeAspect="1"/>
          </p:cNvPicPr>
          <p:nvPr/>
        </p:nvPicPr>
        <p:blipFill>
          <a:blip r:embed="rId4"/>
          <a:stretch>
            <a:fillRect/>
          </a:stretch>
        </p:blipFill>
        <p:spPr>
          <a:xfrm>
            <a:off x="8412480" y="5047488"/>
            <a:ext cx="3063240" cy="1167588"/>
          </a:xfrm>
          <a:prstGeom prst="rect">
            <a:avLst/>
          </a:prstGeom>
          <a:ln w="9525">
            <a:solidFill>
              <a:srgbClr val="453C37"/>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Limited staff. Many households. Who comes first?</a:t>
            </a:r>
          </a:p>
        </p:txBody>
      </p:sp>
      <p:sp>
        <p:nvSpPr>
          <p:cNvPr id="3" name="TextBox 2"/>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3</a:t>
            </a:r>
          </a:p>
        </p:txBody>
      </p:sp>
      <p:sp>
        <p:nvSpPr>
          <p:cNvPr id="4" name="TextBox 3"/>
          <p:cNvSpPr txBox="1"/>
          <p:nvPr/>
        </p:nvSpPr>
        <p:spPr>
          <a:xfrm>
            <a:off x="548640" y="1371600"/>
            <a:ext cx="6126480" cy="2377440"/>
          </a:xfrm>
          <a:prstGeom prst="rect">
            <a:avLst/>
          </a:prstGeom>
          <a:noFill/>
        </p:spPr>
        <p:txBody>
          <a:bodyPr wrap="square" lIns="18288" rIns="18288" tIns="18288" bIns="18288" anchor="t">
            <a:spAutoFit/>
          </a:bodyPr>
          <a:lstStyle/>
          <a:p>
            <a:pPr algn="l">
              <a:lnSpc>
                <a:spcPct val="110000"/>
              </a:lnSpc>
              <a:spcAft>
                <a:spcPts val="1200"/>
              </a:spcAft>
            </a:pPr>
            <a:r>
              <a:rPr sz="2200" b="0" i="0">
                <a:solidFill>
                  <a:srgbClr val="D63A73"/>
                </a:solidFill>
                <a:latin typeface="Barlow"/>
              </a:rPr>
              <a:t>▪  </a:t>
            </a:r>
            <a:r>
              <a:rPr sz="2200" b="0" i="0">
                <a:solidFill>
                  <a:srgbClr val="E5E7E1"/>
                </a:solidFill>
                <a:latin typeface="Barlow"/>
              </a:rPr>
              <a:t>User: the overnight call-line supervisor.</a:t>
            </a:r>
          </a:p>
          <a:p>
            <a:pPr algn="l">
              <a:lnSpc>
                <a:spcPct val="110000"/>
              </a:lnSpc>
              <a:spcAft>
                <a:spcPts val="1200"/>
              </a:spcAft>
            </a:pPr>
            <a:r>
              <a:rPr sz="2200" b="0" i="0">
                <a:solidFill>
                  <a:srgbClr val="D63A73"/>
                </a:solidFill>
                <a:latin typeface="Barlow"/>
              </a:rPr>
              <a:t>▪  </a:t>
            </a:r>
            <a:r>
              <a:rPr sz="2200" b="0" i="0">
                <a:solidFill>
                  <a:srgbClr val="E5E7E1"/>
                </a:solidFill>
                <a:latin typeface="Barlow"/>
              </a:rPr>
              <a:t>Decision: prioritize outbound follow-up.</a:t>
            </a:r>
          </a:p>
          <a:p>
            <a:pPr algn="l">
              <a:lnSpc>
                <a:spcPct val="110000"/>
              </a:lnSpc>
              <a:spcAft>
                <a:spcPts val="1200"/>
              </a:spcAft>
            </a:pPr>
            <a:r>
              <a:rPr sz="2200" b="0" i="0">
                <a:solidFill>
                  <a:srgbClr val="D63A73"/>
                </a:solidFill>
                <a:latin typeface="Barlow"/>
              </a:rPr>
              <a:t>▪  </a:t>
            </a:r>
            <a:r>
              <a:rPr sz="2200" b="0" i="0">
                <a:solidFill>
                  <a:srgbClr val="E5E7E1"/>
                </a:solidFill>
                <a:latin typeface="Barlow"/>
              </a:rPr>
              <a:t>Delivery: simulated today; Retell integration planned.</a:t>
            </a:r>
          </a:p>
        </p:txBody>
      </p:sp>
      <p:sp>
        <p:nvSpPr>
          <p:cNvPr id="5" name="Rounded Rectangle 4"/>
          <p:cNvSpPr/>
          <p:nvPr/>
        </p:nvSpPr>
        <p:spPr>
          <a:xfrm>
            <a:off x="548640" y="3886200"/>
            <a:ext cx="2377440" cy="2240280"/>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959352"/>
            <a:ext cx="2194560" cy="320040"/>
          </a:xfrm>
          <a:prstGeom prst="rect">
            <a:avLst/>
          </a:prstGeom>
          <a:noFill/>
        </p:spPr>
        <p:txBody>
          <a:bodyPr wrap="square" lIns="18288" rIns="18288" tIns="18288" bIns="18288" anchor="t">
            <a:spAutoFit/>
          </a:bodyPr>
          <a:lstStyle/>
          <a:p>
            <a:pPr algn="l">
              <a:lnSpc>
                <a:spcPct val="110000"/>
              </a:lnSpc>
            </a:pPr>
            <a:r>
              <a:rPr sz="1400" b="1" i="0">
                <a:solidFill>
                  <a:srgbClr val="E5E7E1"/>
                </a:solidFill>
                <a:latin typeface="Barlow"/>
              </a:rPr>
              <a:t>Households near the fire</a:t>
            </a:r>
          </a:p>
        </p:txBody>
      </p:sp>
      <p:sp>
        <p:nvSpPr>
          <p:cNvPr id="7" name="Rounded Rectangle 6"/>
          <p:cNvSpPr/>
          <p:nvPr/>
        </p:nvSpPr>
        <p:spPr>
          <a:xfrm>
            <a:off x="731520" y="4370832"/>
            <a:ext cx="1737360" cy="164592"/>
          </a:xfrm>
          <a:prstGeom prst="roundRect">
            <a:avLst>
              <a:gd name="adj" fmla="val 12000"/>
            </a:avLst>
          </a:prstGeom>
          <a:solidFill>
            <a:srgbClr val="554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4672584"/>
            <a:ext cx="1280160" cy="164592"/>
          </a:xfrm>
          <a:prstGeom prst="roundRect">
            <a:avLst>
              <a:gd name="adj" fmla="val 12000"/>
            </a:avLst>
          </a:prstGeom>
          <a:solidFill>
            <a:srgbClr val="554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974336"/>
            <a:ext cx="1920240" cy="164592"/>
          </a:xfrm>
          <a:prstGeom prst="roundRect">
            <a:avLst>
              <a:gd name="adj" fmla="val 12000"/>
            </a:avLst>
          </a:prstGeom>
          <a:solidFill>
            <a:srgbClr val="554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5276088"/>
            <a:ext cx="1463040" cy="164592"/>
          </a:xfrm>
          <a:prstGeom prst="roundRect">
            <a:avLst>
              <a:gd name="adj" fmla="val 12000"/>
            </a:avLst>
          </a:prstGeom>
          <a:solidFill>
            <a:srgbClr val="554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5577840"/>
            <a:ext cx="1645920" cy="164592"/>
          </a:xfrm>
          <a:prstGeom prst="roundRect">
            <a:avLst>
              <a:gd name="adj" fmla="val 12000"/>
            </a:avLst>
          </a:prstGeom>
          <a:solidFill>
            <a:srgbClr val="554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5779008"/>
            <a:ext cx="1298448" cy="292608"/>
          </a:xfrm>
          <a:prstGeom prst="roundRect">
            <a:avLst>
              <a:gd name="adj" fmla="val 12000"/>
            </a:avLst>
          </a:prstGeom>
          <a:noFill/>
          <a:ln w="15875">
            <a:solidFill>
              <a:srgbClr val="8C8E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11012"/>
            <a:ext cx="1298448" cy="246888"/>
          </a:xfrm>
          <a:prstGeom prst="rect">
            <a:avLst/>
          </a:prstGeom>
          <a:noFill/>
        </p:spPr>
        <p:txBody>
          <a:bodyPr wrap="square" lIns="18288" rIns="18288" tIns="18288" bIns="18288" anchor="t">
            <a:spAutoFit/>
          </a:bodyPr>
          <a:lstStyle/>
          <a:p>
            <a:pPr algn="ctr">
              <a:lnSpc>
                <a:spcPct val="110000"/>
              </a:lnSpc>
            </a:pPr>
            <a:r>
              <a:rPr sz="1200" b="1" i="0">
                <a:solidFill>
                  <a:srgbClr val="8C8E88"/>
                </a:solidFill>
                <a:latin typeface="Barlow"/>
              </a:rPr>
              <a:t>ILLUSTRATIVE</a:t>
            </a:r>
          </a:p>
        </p:txBody>
      </p:sp>
      <p:cxnSp>
        <p:nvCxnSpPr>
          <p:cNvPr id="14" name="Connector 13"/>
          <p:cNvCxnSpPr/>
          <p:nvPr/>
        </p:nvCxnSpPr>
        <p:spPr>
          <a:xfrm>
            <a:off x="3063240" y="4983480"/>
            <a:ext cx="640080" cy="0"/>
          </a:xfrm>
          <a:prstGeom prst="line">
            <a:avLst/>
          </a:prstGeom>
          <a:ln w="25400">
            <a:solidFill>
              <a:srgbClr val="E5E7E1"/>
            </a:solidFill>
            <a:tailEnd type="triangle"/>
          </a:ln>
        </p:spPr>
        <p:style>
          <a:lnRef idx="2">
            <a:schemeClr val="accent1"/>
          </a:lnRef>
          <a:fillRef idx="0">
            <a:schemeClr val="accent1"/>
          </a:fillRef>
          <a:effectRef idx="1">
            <a:schemeClr val="accent1"/>
          </a:effectRef>
          <a:fontRef idx="minor">
            <a:schemeClr val="tx1"/>
          </a:fontRef>
        </p:style>
      </p:cxnSp>
      <p:pic>
        <p:nvPicPr>
          <p:cNvPr id="15" name="Picture 14" descr="P3-queue-top5.png"/>
          <p:cNvPicPr>
            <a:picLocks noChangeAspect="1"/>
          </p:cNvPicPr>
          <p:nvPr/>
        </p:nvPicPr>
        <p:blipFill>
          <a:blip r:embed="rId3"/>
          <a:stretch>
            <a:fillRect/>
          </a:stretch>
        </p:blipFill>
        <p:spPr>
          <a:xfrm>
            <a:off x="3840480" y="3611880"/>
            <a:ext cx="3051313" cy="2514600"/>
          </a:xfrm>
          <a:prstGeom prst="rect">
            <a:avLst/>
          </a:prstGeom>
          <a:ln w="9525">
            <a:solidFill>
              <a:srgbClr val="453C37"/>
            </a:solidFill>
          </a:ln>
        </p:spPr>
      </p:pic>
      <p:sp>
        <p:nvSpPr>
          <p:cNvPr id="16" name="TextBox 15"/>
          <p:cNvSpPr txBox="1"/>
          <p:nvPr/>
        </p:nvSpPr>
        <p:spPr>
          <a:xfrm>
            <a:off x="3840480" y="6172200"/>
            <a:ext cx="3291840" cy="274320"/>
          </a:xfrm>
          <a:prstGeom prst="rect">
            <a:avLst/>
          </a:prstGeom>
          <a:noFill/>
        </p:spPr>
        <p:txBody>
          <a:bodyPr wrap="square" lIns="18288" rIns="18288" tIns="18288" bIns="18288" anchor="t">
            <a:spAutoFit/>
          </a:bodyPr>
          <a:lstStyle/>
          <a:p>
            <a:pPr algn="l">
              <a:lnSpc>
                <a:spcPct val="110000"/>
              </a:lnSpc>
            </a:pPr>
            <a:r>
              <a:rPr sz="1300" b="0" i="0">
                <a:solidFill>
                  <a:srgbClr val="A9ABA4"/>
                </a:solidFill>
                <a:latin typeface="Barlow"/>
              </a:rPr>
              <a:t>Ordered by estimated fire arrival</a:t>
            </a:r>
          </a:p>
        </p:txBody>
      </p:sp>
      <p:cxnSp>
        <p:nvCxnSpPr>
          <p:cNvPr id="17" name="Connector 16"/>
          <p:cNvCxnSpPr/>
          <p:nvPr/>
        </p:nvCxnSpPr>
        <p:spPr>
          <a:xfrm>
            <a:off x="6995160" y="4846320"/>
            <a:ext cx="1143000" cy="0"/>
          </a:xfrm>
          <a:prstGeom prst="line">
            <a:avLst/>
          </a:prstGeom>
          <a:ln w="25400">
            <a:solidFill>
              <a:srgbClr val="E5E7E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275320" y="4160520"/>
            <a:ext cx="3291840" cy="1371600"/>
          </a:xfrm>
          <a:prstGeom prst="roundRect">
            <a:avLst>
              <a:gd name="adj" fmla="val 12000"/>
            </a:avLst>
          </a:prstGeom>
          <a:noFill/>
          <a:ln w="15875">
            <a:solidFill>
              <a:srgbClr val="E5E7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4297680"/>
            <a:ext cx="3017520" cy="1097280"/>
          </a:xfrm>
          <a:prstGeom prst="rect">
            <a:avLst/>
          </a:prstGeom>
          <a:noFill/>
        </p:spPr>
        <p:txBody>
          <a:bodyPr wrap="square" lIns="18288" rIns="18288" tIns="18288" bIns="18288" anchor="t">
            <a:spAutoFit/>
          </a:bodyPr>
          <a:lstStyle/>
          <a:p>
            <a:pPr algn="l">
              <a:lnSpc>
                <a:spcPct val="110000"/>
              </a:lnSpc>
            </a:pPr>
            <a:r>
              <a:rPr sz="2000" b="1" i="0">
                <a:solidFill>
                  <a:srgbClr val="E5E7E1"/>
                </a:solidFill>
                <a:latin typeface="Barlow"/>
              </a:rPr>
              <a:t>Retell voice call</a:t>
            </a:r>
          </a:p>
          <a:p>
            <a:pPr algn="l">
              <a:lnSpc>
                <a:spcPct val="110000"/>
              </a:lnSpc>
            </a:pPr>
            <a:r>
              <a:rPr sz="1400" b="0" i="0">
                <a:solidFill>
                  <a:srgbClr val="A9ABA4"/>
                </a:solidFill>
                <a:latin typeface="Barlow"/>
              </a:rPr>
              <a:t>Approved update; outcome returned to the queue</a:t>
            </a:r>
          </a:p>
        </p:txBody>
      </p:sp>
      <p:sp>
        <p:nvSpPr>
          <p:cNvPr id="20" name="Rounded Rectangle 19"/>
          <p:cNvSpPr/>
          <p:nvPr/>
        </p:nvSpPr>
        <p:spPr>
          <a:xfrm>
            <a:off x="8275320" y="5669280"/>
            <a:ext cx="818388" cy="292608"/>
          </a:xfrm>
          <a:prstGeom prst="roundRect">
            <a:avLst>
              <a:gd name="adj" fmla="val 12000"/>
            </a:avLst>
          </a:prstGeom>
          <a:noFill/>
          <a:ln w="15875">
            <a:solidFill>
              <a:srgbClr val="E5E7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5701284"/>
            <a:ext cx="818388" cy="246888"/>
          </a:xfrm>
          <a:prstGeom prst="rect">
            <a:avLst/>
          </a:prstGeom>
          <a:noFill/>
        </p:spPr>
        <p:txBody>
          <a:bodyPr wrap="square" lIns="18288" rIns="18288" tIns="18288" bIns="18288" anchor="t">
            <a:spAutoFit/>
          </a:bodyPr>
          <a:lstStyle/>
          <a:p>
            <a:pPr algn="ctr">
              <a:lnSpc>
                <a:spcPct val="110000"/>
              </a:lnSpc>
            </a:pPr>
            <a:r>
              <a:rPr sz="1200" b="1" i="0">
                <a:solidFill>
                  <a:srgbClr val="E5E7E1"/>
                </a:solidFill>
                <a:latin typeface="Barlow"/>
              </a:rPr>
              <a:t>PLANNED</a:t>
            </a:r>
          </a:p>
        </p:txBody>
      </p:sp>
      <p:sp>
        <p:nvSpPr>
          <p:cNvPr id="22" name="TextBox 21"/>
          <p:cNvSpPr txBox="1"/>
          <p:nvPr/>
        </p:nvSpPr>
        <p:spPr>
          <a:xfrm>
            <a:off x="9203436" y="5701284"/>
            <a:ext cx="5486400" cy="274320"/>
          </a:xfrm>
          <a:prstGeom prst="rect">
            <a:avLst/>
          </a:prstGeom>
          <a:noFill/>
        </p:spPr>
        <p:txBody>
          <a:bodyPr wrap="square" lIns="18288" rIns="18288" tIns="18288" bIns="18288" anchor="t">
            <a:spAutoFit/>
          </a:bodyPr>
          <a:lstStyle/>
          <a:p>
            <a:pPr algn="l">
              <a:lnSpc>
                <a:spcPct val="110000"/>
              </a:lnSpc>
            </a:pPr>
            <a:r>
              <a:rPr sz="1300" b="0" i="0">
                <a:solidFill>
                  <a:srgbClr val="A9ABA4"/>
                </a:solidFill>
                <a:latin typeface="Barlow"/>
              </a:rPr>
              <a:t>Calls are simulated today</a:t>
            </a:r>
          </a:p>
        </p:txBody>
      </p:sp>
      <p:pic>
        <p:nvPicPr>
          <p:cNvPr id="23" name="Picture 22" descr="P3-progress.png"/>
          <p:cNvPicPr>
            <a:picLocks noChangeAspect="1"/>
          </p:cNvPicPr>
          <p:nvPr/>
        </p:nvPicPr>
        <p:blipFill>
          <a:blip r:embed="rId4"/>
          <a:stretch>
            <a:fillRect/>
          </a:stretch>
        </p:blipFill>
        <p:spPr>
          <a:xfrm>
            <a:off x="6812280" y="1371600"/>
            <a:ext cx="4754880" cy="2064015"/>
          </a:xfrm>
          <a:prstGeom prst="rect">
            <a:avLst/>
          </a:prstGeom>
          <a:ln w="9525">
            <a:solidFill>
              <a:srgbClr val="453C37"/>
            </a:solidFill>
          </a:ln>
        </p:spPr>
      </p:pic>
      <p:sp>
        <p:nvSpPr>
          <p:cNvPr id="24" name="TextBox 23"/>
          <p:cNvSpPr txBox="1"/>
          <p:nvPr/>
        </p:nvSpPr>
        <p:spPr>
          <a:xfrm>
            <a:off x="6812280" y="3456432"/>
            <a:ext cx="475488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Live counts from the simulated dispatcher</a:t>
            </a:r>
          </a:p>
        </p:txBody>
      </p:sp>
      <p:sp>
        <p:nvSpPr>
          <p:cNvPr id="25" name="TextBox 24"/>
          <p:cNvSpPr txBox="1"/>
          <p:nvPr/>
        </p:nvSpPr>
        <p:spPr>
          <a:xfrm>
            <a:off x="548640" y="6455664"/>
            <a:ext cx="1097280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Ranking reflects estimated fire arrival, not conversational urgency or rescue priority. Demo contacts are fictional.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Nearby homes become a clear outreach queue.</a:t>
            </a:r>
          </a:p>
        </p:txBody>
      </p:sp>
      <p:sp>
        <p:nvSpPr>
          <p:cNvPr id="3" name="TextBox 2"/>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4</a:t>
            </a:r>
          </a:p>
        </p:txBody>
      </p:sp>
      <p:sp>
        <p:nvSpPr>
          <p:cNvPr id="4" name="TextBox 3"/>
          <p:cNvSpPr txBox="1"/>
          <p:nvPr/>
        </p:nvSpPr>
        <p:spPr>
          <a:xfrm>
            <a:off x="548640" y="6455664"/>
            <a:ext cx="1024128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Experimental, unofficial model outputs. Demo contacts and call outcomes are fictional. Follow official evacuation instructions.</a:t>
            </a:r>
          </a:p>
        </p:txBody>
      </p:sp>
      <p:sp>
        <p:nvSpPr>
          <p:cNvPr id="5" name="Rounded Rectangle 4"/>
          <p:cNvSpPr/>
          <p:nvPr/>
        </p:nvSpPr>
        <p:spPr>
          <a:xfrm>
            <a:off x="548640" y="1234440"/>
            <a:ext cx="1499616" cy="457200"/>
          </a:xfrm>
          <a:prstGeom prst="roundRect">
            <a:avLst>
              <a:gd name="adj" fmla="val 12000"/>
            </a:avLst>
          </a:prstGeom>
          <a:solidFill>
            <a:srgbClr val="2B231F"/>
          </a:solidFill>
          <a:ln w="15875">
            <a:solidFill>
              <a:srgbClr val="F26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16736"/>
            <a:ext cx="1499616" cy="365760"/>
          </a:xfrm>
          <a:prstGeom prst="rect">
            <a:avLst/>
          </a:prstGeom>
          <a:noFill/>
        </p:spPr>
        <p:txBody>
          <a:bodyPr wrap="square" lIns="18288" rIns="18288" tIns="18288" bIns="18288" anchor="t">
            <a:spAutoFit/>
          </a:bodyPr>
          <a:lstStyle/>
          <a:p>
            <a:pPr algn="ctr">
              <a:lnSpc>
                <a:spcPct val="110000"/>
              </a:lnSpc>
            </a:pPr>
            <a:r>
              <a:rPr sz="1500" b="1" i="0">
                <a:solidFill>
                  <a:srgbClr val="E5E7E1"/>
                </a:solidFill>
                <a:latin typeface="Barlow"/>
              </a:rPr>
              <a:t>Home location</a:t>
            </a:r>
          </a:p>
        </p:txBody>
      </p:sp>
      <p:cxnSp>
        <p:nvCxnSpPr>
          <p:cNvPr id="7" name="Connector 6"/>
          <p:cNvCxnSpPr/>
          <p:nvPr/>
        </p:nvCxnSpPr>
        <p:spPr>
          <a:xfrm>
            <a:off x="2084832" y="1463040"/>
            <a:ext cx="237744" cy="0"/>
          </a:xfrm>
          <a:prstGeom prst="line">
            <a:avLst/>
          </a:prstGeom>
          <a:ln w="25400">
            <a:solidFill>
              <a:srgbClr val="A9ABA4"/>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359152" y="1234440"/>
            <a:ext cx="3054096" cy="457200"/>
          </a:xfrm>
          <a:prstGeom prst="roundRect">
            <a:avLst>
              <a:gd name="adj" fmla="val 12000"/>
            </a:avLst>
          </a:prstGeom>
          <a:solidFill>
            <a:srgbClr val="2B231F"/>
          </a:solidFill>
          <a:ln w="15875">
            <a:solidFill>
              <a:srgbClr val="F26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59152" y="1316736"/>
            <a:ext cx="3054096" cy="365760"/>
          </a:xfrm>
          <a:prstGeom prst="rect">
            <a:avLst/>
          </a:prstGeom>
          <a:noFill/>
        </p:spPr>
        <p:txBody>
          <a:bodyPr wrap="square" lIns="18288" rIns="18288" tIns="18288" bIns="18288" anchor="t">
            <a:spAutoFit/>
          </a:bodyPr>
          <a:lstStyle/>
          <a:p>
            <a:pPr algn="ctr">
              <a:lnSpc>
                <a:spcPct val="110000"/>
              </a:lnSpc>
            </a:pPr>
            <a:r>
              <a:rPr sz="1500" b="1" i="0">
                <a:solidFill>
                  <a:srgbClr val="E5E7E1"/>
                </a:solidFill>
                <a:latin typeface="Barlow"/>
              </a:rPr>
              <a:t>Distance + wind (or model ETA)</a:t>
            </a:r>
          </a:p>
        </p:txBody>
      </p:sp>
      <p:cxnSp>
        <p:nvCxnSpPr>
          <p:cNvPr id="10" name="Connector 9"/>
          <p:cNvCxnSpPr/>
          <p:nvPr/>
        </p:nvCxnSpPr>
        <p:spPr>
          <a:xfrm>
            <a:off x="5449824" y="1463040"/>
            <a:ext cx="237744" cy="0"/>
          </a:xfrm>
          <a:prstGeom prst="line">
            <a:avLst/>
          </a:prstGeom>
          <a:ln w="25400">
            <a:solidFill>
              <a:srgbClr val="A9ABA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724144" y="1234440"/>
            <a:ext cx="1865376" cy="457200"/>
          </a:xfrm>
          <a:prstGeom prst="roundRect">
            <a:avLst>
              <a:gd name="adj" fmla="val 12000"/>
            </a:avLst>
          </a:prstGeom>
          <a:solidFill>
            <a:srgbClr val="2B231F"/>
          </a:solidFill>
          <a:ln w="15875">
            <a:solidFill>
              <a:srgbClr val="F26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24144" y="1316736"/>
            <a:ext cx="1865376" cy="365760"/>
          </a:xfrm>
          <a:prstGeom prst="rect">
            <a:avLst/>
          </a:prstGeom>
          <a:noFill/>
        </p:spPr>
        <p:txBody>
          <a:bodyPr wrap="square" lIns="18288" rIns="18288" tIns="18288" bIns="18288" anchor="t">
            <a:spAutoFit/>
          </a:bodyPr>
          <a:lstStyle/>
          <a:p>
            <a:pPr algn="ctr">
              <a:lnSpc>
                <a:spcPct val="110000"/>
              </a:lnSpc>
            </a:pPr>
            <a:r>
              <a:rPr sz="1500" b="1" i="0">
                <a:solidFill>
                  <a:srgbClr val="E5E7E1"/>
                </a:solidFill>
                <a:latin typeface="Barlow"/>
              </a:rPr>
              <a:t>Estimated arrival</a:t>
            </a:r>
          </a:p>
        </p:txBody>
      </p:sp>
      <p:cxnSp>
        <p:nvCxnSpPr>
          <p:cNvPr id="13" name="Connector 12"/>
          <p:cNvCxnSpPr/>
          <p:nvPr/>
        </p:nvCxnSpPr>
        <p:spPr>
          <a:xfrm>
            <a:off x="7626096" y="1463040"/>
            <a:ext cx="237744" cy="0"/>
          </a:xfrm>
          <a:prstGeom prst="line">
            <a:avLst/>
          </a:prstGeom>
          <a:ln w="25400">
            <a:solidFill>
              <a:srgbClr val="A9ABA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900416" y="1234440"/>
            <a:ext cx="1408176" cy="457200"/>
          </a:xfrm>
          <a:prstGeom prst="roundRect">
            <a:avLst>
              <a:gd name="adj" fmla="val 12000"/>
            </a:avLst>
          </a:prstGeom>
          <a:solidFill>
            <a:srgbClr val="2B231F"/>
          </a:solidFill>
          <a:ln w="15875">
            <a:solidFill>
              <a:srgbClr val="D63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0416" y="1316736"/>
            <a:ext cx="1408176" cy="365760"/>
          </a:xfrm>
          <a:prstGeom prst="rect">
            <a:avLst/>
          </a:prstGeom>
          <a:noFill/>
        </p:spPr>
        <p:txBody>
          <a:bodyPr wrap="square" lIns="18288" rIns="18288" tIns="18288" bIns="18288" anchor="t">
            <a:spAutoFit/>
          </a:bodyPr>
          <a:lstStyle/>
          <a:p>
            <a:pPr algn="ctr">
              <a:lnSpc>
                <a:spcPct val="110000"/>
              </a:lnSpc>
            </a:pPr>
            <a:r>
              <a:rPr sz="1500" b="1" i="0">
                <a:solidFill>
                  <a:srgbClr val="E5E7E1"/>
                </a:solidFill>
                <a:latin typeface="Barlow"/>
              </a:rPr>
              <a:t>Sorted queue</a:t>
            </a:r>
          </a:p>
        </p:txBody>
      </p:sp>
      <p:cxnSp>
        <p:nvCxnSpPr>
          <p:cNvPr id="16" name="Connector 15"/>
          <p:cNvCxnSpPr/>
          <p:nvPr/>
        </p:nvCxnSpPr>
        <p:spPr>
          <a:xfrm>
            <a:off x="9345168" y="1463040"/>
            <a:ext cx="237744" cy="0"/>
          </a:xfrm>
          <a:prstGeom prst="line">
            <a:avLst/>
          </a:prstGeom>
          <a:ln w="25400">
            <a:solidFill>
              <a:srgbClr val="A9ABA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619488" y="1234440"/>
            <a:ext cx="1316736" cy="457200"/>
          </a:xfrm>
          <a:prstGeom prst="roundRect">
            <a:avLst>
              <a:gd name="adj" fmla="val 12000"/>
            </a:avLst>
          </a:prstGeom>
          <a:solidFill>
            <a:srgbClr val="2B231F"/>
          </a:solidFill>
          <a:ln w="15875">
            <a:solidFill>
              <a:srgbClr val="D63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19488" y="1316736"/>
            <a:ext cx="1316736" cy="365760"/>
          </a:xfrm>
          <a:prstGeom prst="rect">
            <a:avLst/>
          </a:prstGeom>
          <a:noFill/>
        </p:spPr>
        <p:txBody>
          <a:bodyPr wrap="square" lIns="18288" rIns="18288" tIns="18288" bIns="18288" anchor="t">
            <a:spAutoFit/>
          </a:bodyPr>
          <a:lstStyle/>
          <a:p>
            <a:pPr algn="ctr">
              <a:lnSpc>
                <a:spcPct val="110000"/>
              </a:lnSpc>
            </a:pPr>
            <a:r>
              <a:rPr sz="1500" b="1" i="0">
                <a:solidFill>
                  <a:srgbClr val="E5E7E1"/>
                </a:solidFill>
                <a:latin typeface="Barlow"/>
              </a:rPr>
              <a:t>Call status</a:t>
            </a:r>
          </a:p>
        </p:txBody>
      </p:sp>
      <p:pic>
        <p:nvPicPr>
          <p:cNvPr id="19" name="Picture 18" descr="P4-calling-closeup.png"/>
          <p:cNvPicPr>
            <a:picLocks noChangeAspect="1"/>
          </p:cNvPicPr>
          <p:nvPr/>
        </p:nvPicPr>
        <p:blipFill>
          <a:blip r:embed="rId3"/>
          <a:stretch>
            <a:fillRect/>
          </a:stretch>
        </p:blipFill>
        <p:spPr>
          <a:xfrm>
            <a:off x="548640" y="1920240"/>
            <a:ext cx="4793214" cy="3520440"/>
          </a:xfrm>
          <a:prstGeom prst="rect">
            <a:avLst/>
          </a:prstGeom>
          <a:ln w="9525">
            <a:solidFill>
              <a:srgbClr val="453C37"/>
            </a:solidFill>
          </a:ln>
        </p:spPr>
      </p:pic>
      <p:sp>
        <p:nvSpPr>
          <p:cNvPr id="20" name="TextBox 19"/>
          <p:cNvSpPr txBox="1"/>
          <p:nvPr/>
        </p:nvSpPr>
        <p:spPr>
          <a:xfrm>
            <a:off x="548640" y="5486400"/>
            <a:ext cx="4937760" cy="320040"/>
          </a:xfrm>
          <a:prstGeom prst="rect">
            <a:avLst/>
          </a:prstGeom>
          <a:noFill/>
        </p:spPr>
        <p:txBody>
          <a:bodyPr wrap="square" lIns="18288" rIns="18288" tIns="18288" bIns="18288" anchor="t">
            <a:spAutoFit/>
          </a:bodyPr>
          <a:lstStyle/>
          <a:p>
            <a:pPr algn="l">
              <a:lnSpc>
                <a:spcPct val="100000"/>
              </a:lnSpc>
            </a:pPr>
            <a:r>
              <a:rPr sz="1300" b="0" i="0">
                <a:solidFill>
                  <a:srgbClr val="A9ABA4"/>
                </a:solidFill>
                <a:latin typeface="Barlow"/>
              </a:rPr>
              <a:t>Each home’s status sits above its roof (ring = queued).</a:t>
            </a:r>
          </a:p>
        </p:txBody>
      </p:sp>
      <p:pic>
        <p:nvPicPr>
          <p:cNvPr id="21" name="Picture 20" descr="P3-queue-top5.png"/>
          <p:cNvPicPr>
            <a:picLocks noChangeAspect="1"/>
          </p:cNvPicPr>
          <p:nvPr/>
        </p:nvPicPr>
        <p:blipFill>
          <a:blip r:embed="rId4"/>
          <a:stretch>
            <a:fillRect/>
          </a:stretch>
        </p:blipFill>
        <p:spPr>
          <a:xfrm>
            <a:off x="5989320" y="1920240"/>
            <a:ext cx="4271838" cy="3520440"/>
          </a:xfrm>
          <a:prstGeom prst="rect">
            <a:avLst/>
          </a:prstGeom>
          <a:ln w="9525">
            <a:solidFill>
              <a:srgbClr val="453C37"/>
            </a:solidFill>
          </a:ln>
        </p:spPr>
      </p:pic>
      <p:sp>
        <p:nvSpPr>
          <p:cNvPr id="22" name="TextBox 21"/>
          <p:cNvSpPr txBox="1"/>
          <p:nvPr/>
        </p:nvSpPr>
        <p:spPr>
          <a:xfrm>
            <a:off x="5989320" y="5486400"/>
            <a:ext cx="4389120" cy="320040"/>
          </a:xfrm>
          <a:prstGeom prst="rect">
            <a:avLst/>
          </a:prstGeom>
          <a:noFill/>
        </p:spPr>
        <p:txBody>
          <a:bodyPr wrap="square" lIns="18288" rIns="18288" tIns="18288" bIns="18288" anchor="t">
            <a:spAutoFit/>
          </a:bodyPr>
          <a:lstStyle/>
          <a:p>
            <a:pPr algn="l">
              <a:lnSpc>
                <a:spcPct val="100000"/>
              </a:lnSpc>
            </a:pPr>
            <a:r>
              <a:rPr sz="1300" b="0" i="0">
                <a:solidFill>
                  <a:srgbClr val="A9ABA4"/>
                </a:solidFill>
                <a:latin typeface="Barlow"/>
              </a:rPr>
              <a:t>Rank · masked address · resident · flags · arrival</a:t>
            </a:r>
          </a:p>
        </p:txBody>
      </p:sp>
      <p:sp>
        <p:nvSpPr>
          <p:cNvPr id="23" name="TextBox 22"/>
          <p:cNvSpPr txBox="1"/>
          <p:nvPr/>
        </p:nvSpPr>
        <p:spPr>
          <a:xfrm>
            <a:off x="10378440" y="1965960"/>
            <a:ext cx="1325880" cy="3291840"/>
          </a:xfrm>
          <a:prstGeom prst="rect">
            <a:avLst/>
          </a:prstGeom>
          <a:noFill/>
        </p:spPr>
        <p:txBody>
          <a:bodyPr wrap="square" lIns="18288" rIns="18288" tIns="18288" bIns="18288" anchor="t">
            <a:spAutoFit/>
          </a:bodyPr>
          <a:lstStyle/>
          <a:p>
            <a:pPr algn="l">
              <a:lnSpc>
                <a:spcPct val="100000"/>
              </a:lnSpc>
            </a:pPr>
            <a:r>
              <a:rPr sz="1500" b="1" i="0">
                <a:solidFill>
                  <a:srgbClr val="E5E7E1"/>
                </a:solidFill>
                <a:latin typeface="Barlow"/>
              </a:rPr>
              <a:t>Top of the queue</a:t>
            </a:r>
          </a:p>
          <a:p>
            <a:pPr algn="l">
              <a:lnSpc>
                <a:spcPct val="100000"/>
              </a:lnSpc>
              <a:spcAft>
                <a:spcPts val="1000"/>
              </a:spcAft>
            </a:pPr>
            <a:r>
              <a:rPr sz="1300" b="0" i="0">
                <a:solidFill>
                  <a:srgbClr val="A9ABA4"/>
                </a:solidFill>
                <a:latin typeface="Barlow"/>
              </a:rPr>
              <a:t>earliest expected fire arrival</a:t>
            </a:r>
          </a:p>
          <a:p>
            <a:pPr algn="l">
              <a:lnSpc>
                <a:spcPct val="100000"/>
              </a:lnSpc>
            </a:pPr>
            <a:r>
              <a:rPr sz="1500" b="1" i="0">
                <a:solidFill>
                  <a:srgbClr val="E5E7E1"/>
                </a:solidFill>
                <a:latin typeface="Barlow"/>
              </a:rPr>
              <a:t>“Retry”</a:t>
            </a:r>
          </a:p>
          <a:p>
            <a:pPr algn="l">
              <a:lnSpc>
                <a:spcPct val="100000"/>
              </a:lnSpc>
              <a:spcAft>
                <a:spcPts val="1000"/>
              </a:spcAft>
            </a:pPr>
            <a:r>
              <a:rPr sz="1300" b="0" i="0">
                <a:solidFill>
                  <a:srgbClr val="A9ABA4"/>
                </a:solidFill>
                <a:latin typeface="Barlow"/>
              </a:rPr>
              <a:t>no answer on the first call</a:t>
            </a:r>
          </a:p>
          <a:p>
            <a:pPr algn="l">
              <a:lnSpc>
                <a:spcPct val="100000"/>
              </a:lnSpc>
            </a:pPr>
            <a:r>
              <a:rPr sz="1300" b="0" i="0">
                <a:solidFill>
                  <a:srgbClr val="E8A33A"/>
                </a:solidFill>
                <a:latin typeface="Barlow"/>
              </a:rPr>
              <a:t>Farther away is not the same as safe.</a:t>
            </a:r>
          </a:p>
        </p:txBody>
      </p:sp>
      <p:sp>
        <p:nvSpPr>
          <p:cNvPr id="24" name="TextBox 23"/>
          <p:cNvSpPr txBox="1"/>
          <p:nvPr/>
        </p:nvSpPr>
        <p:spPr>
          <a:xfrm>
            <a:off x="548640" y="5897880"/>
            <a:ext cx="11064240" cy="502920"/>
          </a:xfrm>
          <a:prstGeom prst="rect">
            <a:avLst/>
          </a:prstGeom>
          <a:noFill/>
        </p:spPr>
        <p:txBody>
          <a:bodyPr wrap="square" lIns="18288" rIns="18288" tIns="18288" bIns="18288" anchor="t">
            <a:spAutoFit/>
          </a:bodyPr>
          <a:lstStyle/>
          <a:p>
            <a:pPr algn="l">
              <a:lnSpc>
                <a:spcPct val="100000"/>
              </a:lnSpc>
            </a:pPr>
            <a:r>
              <a:rPr sz="1200" b="0" i="0">
                <a:solidFill>
                  <a:srgbClr val="E5E7E1"/>
                </a:solidFill>
                <a:latin typeface="Barlow"/>
              </a:rPr>
              <a:t>Ranked by estimated fire arrival at each home (nearest simulated burning cell; simulation seeded from reported ignitions and VIIRS hotspots). Access-needs flag moves a home up 5 min. Not a complete danger assessment.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Before the emergency: where should we prepare?</a:t>
            </a:r>
          </a:p>
        </p:txBody>
      </p:sp>
      <p:sp>
        <p:nvSpPr>
          <p:cNvPr id="3" name="TextBox 2"/>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5</a:t>
            </a:r>
          </a:p>
        </p:txBody>
      </p:sp>
      <p:sp>
        <p:nvSpPr>
          <p:cNvPr id="4" name="TextBox 3"/>
          <p:cNvSpPr txBox="1"/>
          <p:nvPr/>
        </p:nvSpPr>
        <p:spPr>
          <a:xfrm>
            <a:off x="548640" y="1417320"/>
            <a:ext cx="4206240" cy="3657600"/>
          </a:xfrm>
          <a:prstGeom prst="rect">
            <a:avLst/>
          </a:prstGeom>
          <a:noFill/>
        </p:spPr>
        <p:txBody>
          <a:bodyPr wrap="square" lIns="18288" rIns="18288" tIns="18288" bIns="18288" anchor="t">
            <a:spAutoFit/>
          </a:bodyPr>
          <a:lstStyle/>
          <a:p>
            <a:pPr algn="l">
              <a:lnSpc>
                <a:spcPct val="110000"/>
              </a:lnSpc>
              <a:spcAft>
                <a:spcPts val="1800"/>
              </a:spcAft>
            </a:pPr>
            <a:r>
              <a:rPr sz="2400" b="0" i="0">
                <a:solidFill>
                  <a:srgbClr val="D63A73"/>
                </a:solidFill>
                <a:latin typeface="Barlow"/>
              </a:rPr>
              <a:t>▪  </a:t>
            </a:r>
            <a:r>
              <a:rPr sz="2400" b="0" i="0">
                <a:solidFill>
                  <a:srgbClr val="E5E7E1"/>
                </a:solidFill>
                <a:latin typeface="Barlow"/>
              </a:rPr>
              <a:t>Intended user: community planner or Fire Safe Council.</a:t>
            </a:r>
          </a:p>
          <a:p>
            <a:pPr algn="l">
              <a:lnSpc>
                <a:spcPct val="110000"/>
              </a:lnSpc>
              <a:spcAft>
                <a:spcPts val="1800"/>
              </a:spcAft>
            </a:pPr>
            <a:r>
              <a:rPr sz="2400" b="0" i="0">
                <a:solidFill>
                  <a:srgbClr val="D63A73"/>
                </a:solidFill>
                <a:latin typeface="Barlow"/>
              </a:rPr>
              <a:t>▪  </a:t>
            </a:r>
            <a:r>
              <a:rPr sz="2400" b="0" i="0">
                <a:solidFill>
                  <a:srgbClr val="E5E7E1"/>
                </a:solidFill>
                <a:latin typeface="Barlow"/>
              </a:rPr>
              <a:t>Explore preventive treatment locations.</a:t>
            </a:r>
          </a:p>
          <a:p>
            <a:pPr algn="l">
              <a:lnSpc>
                <a:spcPct val="110000"/>
              </a:lnSpc>
              <a:spcAft>
                <a:spcPts val="1800"/>
              </a:spcAft>
            </a:pPr>
            <a:r>
              <a:rPr sz="2400" b="0" i="0">
                <a:solidFill>
                  <a:srgbClr val="D63A73"/>
                </a:solidFill>
                <a:latin typeface="Barlow"/>
              </a:rPr>
              <a:t>▪  </a:t>
            </a:r>
            <a:r>
              <a:rPr sz="2400" b="0" i="0">
                <a:solidFill>
                  <a:srgbClr val="E5E7E1"/>
                </a:solidFill>
                <a:latin typeface="Barlow"/>
              </a:rPr>
              <a:t>Compare scenarios before allocating resources.</a:t>
            </a:r>
          </a:p>
        </p:txBody>
      </p:sp>
      <p:pic>
        <p:nvPicPr>
          <p:cNvPr id="5" name="Picture 4" descr="P6-plan-break.png"/>
          <p:cNvPicPr>
            <a:picLocks noChangeAspect="1"/>
          </p:cNvPicPr>
          <p:nvPr/>
        </p:nvPicPr>
        <p:blipFill>
          <a:blip r:embed="rId3"/>
          <a:stretch>
            <a:fillRect/>
          </a:stretch>
        </p:blipFill>
        <p:spPr>
          <a:xfrm>
            <a:off x="4892040" y="1371600"/>
            <a:ext cx="6766560" cy="3806190"/>
          </a:xfrm>
          <a:prstGeom prst="rect">
            <a:avLst/>
          </a:prstGeom>
          <a:ln w="9525">
            <a:solidFill>
              <a:srgbClr val="453C37"/>
            </a:solidFill>
          </a:ln>
        </p:spPr>
      </p:pic>
      <p:sp>
        <p:nvSpPr>
          <p:cNvPr id="6" name="Rounded Rectangle 5"/>
          <p:cNvSpPr/>
          <p:nvPr/>
        </p:nvSpPr>
        <p:spPr>
          <a:xfrm>
            <a:off x="4892040" y="5321808"/>
            <a:ext cx="914400" cy="292608"/>
          </a:xfrm>
          <a:prstGeom prst="roundRect">
            <a:avLst>
              <a:gd name="adj" fmla="val 12000"/>
            </a:avLst>
          </a:prstGeom>
          <a:noFill/>
          <a:ln w="15875">
            <a:solidFill>
              <a:srgbClr val="F26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92040" y="5353812"/>
            <a:ext cx="914400" cy="246888"/>
          </a:xfrm>
          <a:prstGeom prst="rect">
            <a:avLst/>
          </a:prstGeom>
          <a:noFill/>
        </p:spPr>
        <p:txBody>
          <a:bodyPr wrap="square" lIns="18288" rIns="18288" tIns="18288" bIns="18288" anchor="t">
            <a:spAutoFit/>
          </a:bodyPr>
          <a:lstStyle/>
          <a:p>
            <a:pPr algn="ctr">
              <a:lnSpc>
                <a:spcPct val="110000"/>
              </a:lnSpc>
            </a:pPr>
            <a:r>
              <a:rPr sz="1200" b="1" i="0">
                <a:solidFill>
                  <a:srgbClr val="F26A1B"/>
                </a:solidFill>
                <a:latin typeface="Barlow"/>
              </a:rPr>
              <a:t>MODELLED</a:t>
            </a:r>
          </a:p>
        </p:txBody>
      </p:sp>
      <p:sp>
        <p:nvSpPr>
          <p:cNvPr id="8" name="TextBox 7"/>
          <p:cNvSpPr txBox="1"/>
          <p:nvPr/>
        </p:nvSpPr>
        <p:spPr>
          <a:xfrm>
            <a:off x="5916168" y="5353812"/>
            <a:ext cx="5486400" cy="274320"/>
          </a:xfrm>
          <a:prstGeom prst="rect">
            <a:avLst/>
          </a:prstGeom>
          <a:noFill/>
        </p:spPr>
        <p:txBody>
          <a:bodyPr wrap="square" lIns="18288" rIns="18288" tIns="18288" bIns="18288" anchor="t">
            <a:spAutoFit/>
          </a:bodyPr>
          <a:lstStyle/>
          <a:p>
            <a:pPr algn="l">
              <a:lnSpc>
                <a:spcPct val="110000"/>
              </a:lnSpc>
            </a:pPr>
            <a:r>
              <a:rPr sz="1300" b="0" i="0">
                <a:solidFill>
                  <a:srgbClr val="A9ABA4"/>
                </a:solidFill>
                <a:latin typeface="Barlow"/>
              </a:rPr>
              <a:t>Plan mode: a fuel break drawn downwind of the Norte ignition point</a:t>
            </a:r>
          </a:p>
        </p:txBody>
      </p:sp>
      <p:sp>
        <p:nvSpPr>
          <p:cNvPr id="9" name="TextBox 8"/>
          <p:cNvSpPr txBox="1"/>
          <p:nvPr/>
        </p:nvSpPr>
        <p:spPr>
          <a:xfrm>
            <a:off x="548640" y="6455664"/>
            <a:ext cx="1097280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Prevention planning, not a guarantee. Prospective users are not confirmed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Test a treatment. Compare the simulated outcome.</a:t>
            </a:r>
          </a:p>
        </p:txBody>
      </p:sp>
      <p:sp>
        <p:nvSpPr>
          <p:cNvPr id="3" name="TextBox 2"/>
          <p:cNvSpPr txBox="1"/>
          <p:nvPr/>
        </p:nvSpPr>
        <p:spPr>
          <a:xfrm>
            <a:off x="548640" y="987552"/>
            <a:ext cx="11064240" cy="457200"/>
          </a:xfrm>
          <a:prstGeom prst="rect">
            <a:avLst/>
          </a:prstGeom>
          <a:noFill/>
        </p:spPr>
        <p:txBody>
          <a:bodyPr wrap="square" lIns="18288" rIns="18288" tIns="18288" bIns="18288" anchor="t">
            <a:spAutoFit/>
          </a:bodyPr>
          <a:lstStyle/>
          <a:p>
            <a:pPr algn="l">
              <a:lnSpc>
                <a:spcPct val="110000"/>
              </a:lnSpc>
            </a:pPr>
            <a:r>
              <a:rPr sz="2000" b="0" i="0">
                <a:solidFill>
                  <a:srgbClr val="A9ABA4"/>
                </a:solidFill>
                <a:latin typeface="Barlow"/>
              </a:rPr>
              <a:t>Fuel break · Prescribed burn · Thinning · Home hardening</a:t>
            </a:r>
          </a:p>
        </p:txBody>
      </p:sp>
      <p:sp>
        <p:nvSpPr>
          <p:cNvPr id="4" name="TextBox 3"/>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6</a:t>
            </a:r>
          </a:p>
        </p:txBody>
      </p:sp>
      <p:sp>
        <p:nvSpPr>
          <p:cNvPr id="5" name="TextBox 4"/>
          <p:cNvSpPr txBox="1"/>
          <p:nvPr/>
        </p:nvSpPr>
        <p:spPr>
          <a:xfrm>
            <a:off x="548640" y="6455664"/>
            <a:ext cx="1024128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Experimental, unofficial model outputs. Demo contacts and call outcomes are fictional. Follow official evacuation instructions.</a:t>
            </a:r>
          </a:p>
        </p:txBody>
      </p:sp>
      <p:pic>
        <p:nvPicPr>
          <p:cNvPr id="6" name="Picture 5" descr="P7-full.png"/>
          <p:cNvPicPr>
            <a:picLocks noChangeAspect="1"/>
          </p:cNvPicPr>
          <p:nvPr/>
        </p:nvPicPr>
        <p:blipFill>
          <a:blip r:embed="rId3"/>
          <a:stretch>
            <a:fillRect/>
          </a:stretch>
        </p:blipFill>
        <p:spPr>
          <a:xfrm>
            <a:off x="548640" y="1463040"/>
            <a:ext cx="6858000" cy="3857625"/>
          </a:xfrm>
          <a:prstGeom prst="rect">
            <a:avLst/>
          </a:prstGeom>
          <a:ln w="9525">
            <a:solidFill>
              <a:srgbClr val="453C37"/>
            </a:solidFill>
          </a:ln>
        </p:spPr>
      </p:pic>
      <p:pic>
        <p:nvPicPr>
          <p:cNvPr id="7" name="Picture 6" descr="P7c-compare-table.png"/>
          <p:cNvPicPr>
            <a:picLocks noChangeAspect="1"/>
          </p:cNvPicPr>
          <p:nvPr/>
        </p:nvPicPr>
        <p:blipFill>
          <a:blip r:embed="rId4"/>
          <a:stretch>
            <a:fillRect/>
          </a:stretch>
        </p:blipFill>
        <p:spPr>
          <a:xfrm>
            <a:off x="7680960" y="1463040"/>
            <a:ext cx="3977639" cy="3854619"/>
          </a:xfrm>
          <a:prstGeom prst="rect">
            <a:avLst/>
          </a:prstGeom>
          <a:ln w="9525">
            <a:solidFill>
              <a:srgbClr val="453C37"/>
            </a:solidFill>
          </a:ln>
        </p:spPr>
      </p:pic>
      <p:sp>
        <p:nvSpPr>
          <p:cNvPr id="8" name="TextBox 7"/>
          <p:cNvSpPr txBox="1"/>
          <p:nvPr/>
        </p:nvSpPr>
        <p:spPr>
          <a:xfrm>
            <a:off x="548640" y="5376672"/>
            <a:ext cx="11064240" cy="548640"/>
          </a:xfrm>
          <a:prstGeom prst="rect">
            <a:avLst/>
          </a:prstGeom>
          <a:noFill/>
        </p:spPr>
        <p:txBody>
          <a:bodyPr wrap="square" lIns="18288" rIns="18288" tIns="18288" bIns="18288" anchor="t">
            <a:spAutoFit/>
          </a:bodyPr>
          <a:lstStyle/>
          <a:p>
            <a:pPr algn="l">
              <a:lnSpc>
                <a:spcPct val="100000"/>
              </a:lnSpc>
            </a:pPr>
            <a:r>
              <a:rPr sz="1900" b="1" i="0">
                <a:solidFill>
                  <a:srgbClr val="E5E7E1"/>
                </a:solidFill>
                <a:latin typeface="Barlow"/>
              </a:rPr>
              <a:t>Our $25k fuel break: 422 buildings reached vs 419 untreated — inside the ±58 run-to-run noise, so the app shows “≈ 0”, not “homes saved”.</a:t>
            </a:r>
          </a:p>
        </p:txBody>
      </p:sp>
      <p:sp>
        <p:nvSpPr>
          <p:cNvPr id="9" name="Rounded Rectangle 8"/>
          <p:cNvSpPr/>
          <p:nvPr/>
        </p:nvSpPr>
        <p:spPr>
          <a:xfrm>
            <a:off x="548640" y="6053328"/>
            <a:ext cx="914400" cy="292608"/>
          </a:xfrm>
          <a:prstGeom prst="roundRect">
            <a:avLst>
              <a:gd name="adj" fmla="val 12000"/>
            </a:avLst>
          </a:prstGeom>
          <a:noFill/>
          <a:ln w="15875">
            <a:solidFill>
              <a:srgbClr val="F26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085332"/>
            <a:ext cx="914400" cy="246888"/>
          </a:xfrm>
          <a:prstGeom prst="rect">
            <a:avLst/>
          </a:prstGeom>
          <a:noFill/>
        </p:spPr>
        <p:txBody>
          <a:bodyPr wrap="square" lIns="18288" rIns="18288" tIns="18288" bIns="18288" anchor="t">
            <a:spAutoFit/>
          </a:bodyPr>
          <a:lstStyle/>
          <a:p>
            <a:pPr algn="ctr">
              <a:lnSpc>
                <a:spcPct val="110000"/>
              </a:lnSpc>
            </a:pPr>
            <a:r>
              <a:rPr sz="1200" b="1" i="0">
                <a:solidFill>
                  <a:srgbClr val="F26A1B"/>
                </a:solidFill>
                <a:latin typeface="Barlow"/>
              </a:rPr>
              <a:t>MODELLED</a:t>
            </a:r>
          </a:p>
        </p:txBody>
      </p:sp>
      <p:sp>
        <p:nvSpPr>
          <p:cNvPr id="11" name="TextBox 10"/>
          <p:cNvSpPr txBox="1"/>
          <p:nvPr/>
        </p:nvSpPr>
        <p:spPr>
          <a:xfrm>
            <a:off x="1572768" y="6085332"/>
            <a:ext cx="5486400" cy="274320"/>
          </a:xfrm>
          <a:prstGeom prst="rect">
            <a:avLst/>
          </a:prstGeom>
          <a:noFill/>
        </p:spPr>
        <p:txBody>
          <a:bodyPr wrap="square" lIns="18288" rIns="18288" tIns="18288" bIns="18288" anchor="t">
            <a:spAutoFit/>
          </a:bodyPr>
          <a:lstStyle/>
          <a:p>
            <a:pPr algn="l">
              <a:lnSpc>
                <a:spcPct val="110000"/>
              </a:lnSpc>
            </a:pPr>
            <a:r>
              <a:rPr sz="1300" b="0" i="0">
                <a:solidFill>
                  <a:srgbClr val="A9ABA4"/>
                </a:solidFill>
                <a:latin typeface="Barlow"/>
              </a:rPr>
              <a:t>Test fire at the Norte ignition · ENE 8.5 m/s · 8 h · 5 runs · “homes” = mapped buildings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What powers today’s prototype?</a:t>
            </a:r>
          </a:p>
        </p:txBody>
      </p:sp>
      <p:sp>
        <p:nvSpPr>
          <p:cNvPr id="3" name="TextBox 2"/>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7</a:t>
            </a:r>
          </a:p>
        </p:txBody>
      </p:sp>
      <p:graphicFrame>
        <p:nvGraphicFramePr>
          <p:cNvPr id="4" name="Table 3"/>
          <p:cNvGraphicFramePr>
            <a:graphicFrameLocks noGrp="1"/>
          </p:cNvGraphicFramePr>
          <p:nvPr/>
        </p:nvGraphicFramePr>
        <p:xfrm>
          <a:off x="548640" y="1371600"/>
          <a:ext cx="11064240" cy="4023360"/>
        </p:xfrm>
        <a:graphic>
          <a:graphicData uri="http://schemas.openxmlformats.org/drawingml/2006/table">
            <a:tbl>
              <a:tblPr firstRow="1" bandRow="1">
                <a:tableStyleId>{5C22544A-7EE6-4342-B048-85BDC9FD1C3A}</a:tableStyleId>
              </a:tblPr>
              <a:tblGrid>
                <a:gridCol w="2743200"/>
                <a:gridCol w="3200400"/>
                <a:gridCol w="5120640"/>
              </a:tblGrid>
              <a:tr h="804672">
                <a:tc>
                  <a:txBody>
                    <a:bodyPr wrap="square"/>
                    <a:lstStyle/>
                    <a:p>
                      <a:r>
                        <a:rPr sz="1800" b="1">
                          <a:solidFill>
                            <a:srgbClr val="E5E7E1"/>
                          </a:solidFill>
                          <a:latin typeface="Barlow"/>
                        </a:rPr>
                        <a:t>Input</a:t>
                      </a:r>
                    </a:p>
                  </a:txBody>
                  <a:tcPr marL="109728" marR="109728">
                    <a:solidFill>
                      <a:srgbClr val="3A312C"/>
                    </a:solidFill>
                  </a:tcPr>
                </a:tc>
                <a:tc>
                  <a:txBody>
                    <a:bodyPr wrap="square"/>
                    <a:lstStyle/>
                    <a:p>
                      <a:r>
                        <a:rPr sz="1800" b="1">
                          <a:solidFill>
                            <a:srgbClr val="E5E7E1"/>
                          </a:solidFill>
                          <a:latin typeface="Barlow"/>
                        </a:rPr>
                        <a:t>Function</a:t>
                      </a:r>
                    </a:p>
                  </a:txBody>
                  <a:tcPr marL="109728" marR="109728">
                    <a:solidFill>
                      <a:srgbClr val="3A312C"/>
                    </a:solidFill>
                  </a:tcPr>
                </a:tc>
                <a:tc>
                  <a:txBody>
                    <a:bodyPr wrap="square"/>
                    <a:lstStyle/>
                    <a:p>
                      <a:r>
                        <a:rPr sz="1800" b="1">
                          <a:solidFill>
                            <a:srgbClr val="E5E7E1"/>
                          </a:solidFill>
                          <a:latin typeface="Barlow"/>
                        </a:rPr>
                        <a:t>Source / status</a:t>
                      </a:r>
                    </a:p>
                  </a:txBody>
                  <a:tcPr marL="109728" marR="109728">
                    <a:solidFill>
                      <a:srgbClr val="3A312C"/>
                    </a:solidFill>
                  </a:tcPr>
                </a:tc>
              </a:tr>
              <a:tr h="804672">
                <a:tc>
                  <a:txBody>
                    <a:bodyPr wrap="square"/>
                    <a:lstStyle/>
                    <a:p>
                      <a:r>
                        <a:rPr sz="1800" b="1">
                          <a:solidFill>
                            <a:srgbClr val="E5E7E1"/>
                          </a:solidFill>
                          <a:latin typeface="Barlow"/>
                        </a:rPr>
                        <a:t>Terrain, fuels, buildings</a:t>
                      </a:r>
                    </a:p>
                  </a:txBody>
                  <a:tcPr marL="109728" marR="109728">
                    <a:solidFill>
                      <a:srgbClr val="2B231F"/>
                    </a:solidFill>
                  </a:tcPr>
                </a:tc>
                <a:tc>
                  <a:txBody>
                    <a:bodyPr wrap="square"/>
                    <a:lstStyle/>
                    <a:p>
                      <a:r>
                        <a:rPr sz="1800" b="0">
                          <a:solidFill>
                            <a:srgbClr val="E5E7E1"/>
                          </a:solidFill>
                          <a:latin typeface="Barlow"/>
                        </a:rPr>
                        <a:t>Geographic context and home locations</a:t>
                      </a:r>
                    </a:p>
                  </a:txBody>
                  <a:tcPr marL="109728" marR="109728">
                    <a:solidFill>
                      <a:srgbClr val="2B231F"/>
                    </a:solidFill>
                  </a:tcPr>
                </a:tc>
                <a:tc>
                  <a:txBody>
                    <a:bodyPr wrap="square"/>
                    <a:lstStyle/>
                    <a:p>
                      <a:r>
                        <a:rPr sz="1500" b="0">
                          <a:solidFill>
                            <a:srgbClr val="E5E7E1"/>
                          </a:solidFill>
                          <a:latin typeface="Barlow"/>
                        </a:rPr>
                        <a:t>USGS 3DEP, LANDFIRE FBFM40, OpenStreetMap (50,408 buildings), Sentinel-2 imagery (Oct 14, 2026) — committed real data</a:t>
                      </a:r>
                    </a:p>
                  </a:txBody>
                  <a:tcPr marL="109728" marR="109728">
                    <a:solidFill>
                      <a:srgbClr val="2B231F"/>
                    </a:solidFill>
                  </a:tcPr>
                </a:tc>
              </a:tr>
              <a:tr h="804672">
                <a:tc>
                  <a:txBody>
                    <a:bodyPr wrap="square"/>
                    <a:lstStyle/>
                    <a:p>
                      <a:r>
                        <a:rPr sz="1800" b="1">
                          <a:solidFill>
                            <a:srgbClr val="E5E7E1"/>
                          </a:solidFill>
                          <a:latin typeface="Barlow"/>
                        </a:rPr>
                        <a:t>Satellite fire observations</a:t>
                      </a:r>
                    </a:p>
                  </a:txBody>
                  <a:tcPr marL="109728" marR="109728">
                    <a:solidFill>
                      <a:srgbClr val="2B231F"/>
                    </a:solidFill>
                  </a:tcPr>
                </a:tc>
                <a:tc>
                  <a:txBody>
                    <a:bodyPr wrap="square"/>
                    <a:lstStyle/>
                    <a:p>
                      <a:r>
                        <a:rPr sz="1800" b="0">
                          <a:solidFill>
                            <a:srgbClr val="E5E7E1"/>
                          </a:solidFill>
                          <a:latin typeface="Barlow"/>
                        </a:rPr>
                        <a:t>Reported hotspot locations and times</a:t>
                      </a:r>
                    </a:p>
                  </a:txBody>
                  <a:tcPr marL="109728" marR="109728">
                    <a:solidFill>
                      <a:srgbClr val="2B231F"/>
                    </a:solidFill>
                  </a:tcPr>
                </a:tc>
                <a:tc>
                  <a:txBody>
                    <a:bodyPr wrap="square"/>
                    <a:lstStyle/>
                    <a:p>
                      <a:r>
                        <a:rPr sz="1500" b="0">
                          <a:solidFill>
                            <a:srgbClr val="E5E7E1"/>
                          </a:solidFill>
                          <a:latin typeface="Barlow"/>
                        </a:rPr>
                        <a:t>NASA FIRMS VIIRS — replay of 4 passes on Oct 16; live FIRMS/GOES pollers built, not configured</a:t>
                      </a:r>
                    </a:p>
                  </a:txBody>
                  <a:tcPr marL="109728" marR="109728">
                    <a:solidFill>
                      <a:srgbClr val="2B231F"/>
                    </a:solidFill>
                  </a:tcPr>
                </a:tc>
              </a:tr>
              <a:tr h="804672">
                <a:tc>
                  <a:txBody>
                    <a:bodyPr wrap="square"/>
                    <a:lstStyle/>
                    <a:p>
                      <a:r>
                        <a:rPr sz="1800" b="1">
                          <a:solidFill>
                            <a:srgbClr val="E5E7E1"/>
                          </a:solidFill>
                          <a:latin typeface="Barlow"/>
                        </a:rPr>
                        <a:t>Wind</a:t>
                      </a:r>
                    </a:p>
                  </a:txBody>
                  <a:tcPr marL="109728" marR="109728">
                    <a:solidFill>
                      <a:srgbClr val="2B231F"/>
                    </a:solidFill>
                  </a:tcPr>
                </a:tc>
                <a:tc>
                  <a:txBody>
                    <a:bodyPr wrap="square"/>
                    <a:lstStyle/>
                    <a:p>
                      <a:r>
                        <a:rPr sz="1800" b="0">
                          <a:solidFill>
                            <a:srgbClr val="E5E7E1"/>
                          </a:solidFill>
                          <a:latin typeface="Barlow"/>
                        </a:rPr>
                        <a:t>Replay conditions and simulation input</a:t>
                      </a:r>
                    </a:p>
                  </a:txBody>
                  <a:tcPr marL="109728" marR="109728">
                    <a:solidFill>
                      <a:srgbClr val="2B231F"/>
                    </a:solidFill>
                  </a:tcPr>
                </a:tc>
                <a:tc>
                  <a:txBody>
                    <a:bodyPr wrap="square"/>
                    <a:lstStyle/>
                    <a:p>
                      <a:r>
                        <a:rPr sz="1500" b="0">
                          <a:solidFill>
                            <a:srgbClr val="E5E7E1"/>
                          </a:solidFill>
                          <a:latin typeface="Barlow"/>
                        </a:rPr>
                        <a:t>Archived NOAA HRRR (5×5 points, hourly); WindNinja terrain-wind library</a:t>
                      </a:r>
                    </a:p>
                  </a:txBody>
                  <a:tcPr marL="109728" marR="109728">
                    <a:solidFill>
                      <a:srgbClr val="2B231F"/>
                    </a:solidFill>
                  </a:tcPr>
                </a:tc>
              </a:tr>
              <a:tr h="804672">
                <a:tc>
                  <a:txBody>
                    <a:bodyPr wrap="square"/>
                    <a:lstStyle/>
                    <a:p>
                      <a:r>
                        <a:rPr sz="1800" b="1">
                          <a:solidFill>
                            <a:srgbClr val="E5E7E1"/>
                          </a:solidFill>
                          <a:latin typeface="Barlow"/>
                        </a:rPr>
                        <a:t>Resident contacts</a:t>
                      </a:r>
                    </a:p>
                  </a:txBody>
                  <a:tcPr marL="109728" marR="109728">
                    <a:solidFill>
                      <a:srgbClr val="2B231F"/>
                    </a:solidFill>
                  </a:tcPr>
                </a:tc>
                <a:tc>
                  <a:txBody>
                    <a:bodyPr wrap="square"/>
                    <a:lstStyle/>
                    <a:p>
                      <a:r>
                        <a:rPr sz="1800" b="0">
                          <a:solidFill>
                            <a:srgbClr val="E5E7E1"/>
                          </a:solidFill>
                          <a:latin typeface="Barlow"/>
                        </a:rPr>
                        <a:t>Demonstrate the outreach workflow</a:t>
                      </a:r>
                    </a:p>
                  </a:txBody>
                  <a:tcPr marL="109728" marR="109728">
                    <a:solidFill>
                      <a:srgbClr val="2B231F"/>
                    </a:solidFill>
                  </a:tcPr>
                </a:tc>
                <a:tc>
                  <a:txBody>
                    <a:bodyPr wrap="square"/>
                    <a:lstStyle/>
                    <a:p>
                      <a:r>
                        <a:rPr sz="1500" b="0">
                          <a:solidFill>
                            <a:srgbClr val="E5E7E1"/>
                          </a:solidFill>
                          <a:latin typeface="Barlow"/>
                        </a:rPr>
                        <a:t>Synthetic, one per building; fictional (949) 555-01xx numbers; never dialled</a:t>
                      </a:r>
                    </a:p>
                  </a:txBody>
                  <a:tcPr marL="109728" marR="109728">
                    <a:solidFill>
                      <a:srgbClr val="2B231F"/>
                    </a:solidFill>
                  </a:tcPr>
                </a:tc>
              </a:tr>
            </a:tbl>
          </a:graphicData>
        </a:graphic>
      </p:graphicFrame>
      <p:sp>
        <p:nvSpPr>
          <p:cNvPr id="5" name="TextBox 4"/>
          <p:cNvSpPr txBox="1"/>
          <p:nvPr/>
        </p:nvSpPr>
        <p:spPr>
          <a:xfrm>
            <a:off x="548640" y="5623560"/>
            <a:ext cx="11064240" cy="457200"/>
          </a:xfrm>
          <a:prstGeom prst="rect">
            <a:avLst/>
          </a:prstGeom>
          <a:noFill/>
        </p:spPr>
        <p:txBody>
          <a:bodyPr wrap="square" lIns="18288" rIns="18288" tIns="18288" bIns="18288" anchor="t">
            <a:spAutoFit/>
          </a:bodyPr>
          <a:lstStyle/>
          <a:p>
            <a:pPr algn="l">
              <a:lnSpc>
                <a:spcPct val="110000"/>
              </a:lnSpc>
            </a:pPr>
            <a:r>
              <a:rPr sz="2400" b="1" i="0">
                <a:solidFill>
                  <a:srgbClr val="E5E7E1"/>
                </a:solidFill>
                <a:latin typeface="Barlow"/>
              </a:rPr>
              <a:t>Observed data, model outputs and fictional contacts are labelled separately.</a:t>
            </a:r>
          </a:p>
        </p:txBody>
      </p:sp>
      <p:sp>
        <p:nvSpPr>
          <p:cNvPr id="6" name="TextBox 5"/>
          <p:cNvSpPr txBox="1"/>
          <p:nvPr/>
        </p:nvSpPr>
        <p:spPr>
          <a:xfrm>
            <a:off x="548640" y="6172200"/>
            <a:ext cx="11064240" cy="502920"/>
          </a:xfrm>
          <a:prstGeom prst="rect">
            <a:avLst/>
          </a:prstGeom>
          <a:noFill/>
        </p:spPr>
        <p:txBody>
          <a:bodyPr wrap="square" lIns="18288" rIns="18288" tIns="18288" bIns="18288" anchor="t">
            <a:spAutoFit/>
          </a:bodyPr>
          <a:lstStyle/>
          <a:p>
            <a:pPr algn="l">
              <a:lnSpc>
                <a:spcPct val="100000"/>
              </a:lnSpc>
            </a:pPr>
            <a:r>
              <a:rPr sz="1200" b="0" i="0">
                <a:solidFill>
                  <a:srgbClr val="A9ABA4"/>
                </a:solidFill>
                <a:latin typeface="Barlow"/>
              </a:rPr>
              <a:t>Community areas are approximate, not official evacuation zones. Replay evacuation orders: OCFA, as reported by CBS Los Angeles and KTLA (times approximate). Sentinel-2 is periodic imagery, not real-time monitoring.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What would an operational deployment need?</a:t>
            </a:r>
          </a:p>
        </p:txBody>
      </p:sp>
      <p:sp>
        <p:nvSpPr>
          <p:cNvPr id="3" name="TextBox 2"/>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8</a:t>
            </a:r>
          </a:p>
        </p:txBody>
      </p:sp>
      <p:sp>
        <p:nvSpPr>
          <p:cNvPr id="4" name="TextBox 3"/>
          <p:cNvSpPr txBox="1"/>
          <p:nvPr/>
        </p:nvSpPr>
        <p:spPr>
          <a:xfrm>
            <a:off x="548640" y="1325880"/>
            <a:ext cx="5760720" cy="2011680"/>
          </a:xfrm>
          <a:prstGeom prst="rect">
            <a:avLst/>
          </a:prstGeom>
          <a:noFill/>
        </p:spPr>
        <p:txBody>
          <a:bodyPr wrap="square" lIns="18288" rIns="18288" tIns="18288" bIns="18288" anchor="t">
            <a:spAutoFit/>
          </a:bodyPr>
          <a:lstStyle/>
          <a:p>
            <a:pPr algn="l">
              <a:lnSpc>
                <a:spcPct val="110000"/>
              </a:lnSpc>
              <a:spcAft>
                <a:spcPts val="1000"/>
              </a:spcAft>
            </a:pPr>
            <a:r>
              <a:rPr sz="2200" b="0" i="0">
                <a:solidFill>
                  <a:srgbClr val="D63A73"/>
                </a:solidFill>
                <a:latin typeface="Barlow"/>
              </a:rPr>
              <a:t>▪  </a:t>
            </a:r>
            <a:r>
              <a:rPr sz="2200" b="0" i="0">
                <a:solidFill>
                  <a:srgbClr val="E5E7E1"/>
                </a:solidFill>
                <a:latin typeface="Barlow"/>
              </a:rPr>
              <a:t>Verified, authorized contact records.</a:t>
            </a:r>
          </a:p>
          <a:p>
            <a:pPr algn="l">
              <a:lnSpc>
                <a:spcPct val="110000"/>
              </a:lnSpc>
              <a:spcAft>
                <a:spcPts val="1000"/>
              </a:spcAft>
            </a:pPr>
            <a:r>
              <a:rPr sz="2200" b="0" i="0">
                <a:solidFill>
                  <a:srgbClr val="D63A73"/>
                </a:solidFill>
                <a:latin typeface="Barlow"/>
              </a:rPr>
              <a:t>▪  </a:t>
            </a:r>
            <a:r>
              <a:rPr sz="2200" b="0" i="0">
                <a:solidFill>
                  <a:srgbClr val="E5E7E1"/>
                </a:solidFill>
                <a:latin typeface="Barlow"/>
              </a:rPr>
              <a:t>Agency-approved zones and message sources.</a:t>
            </a:r>
          </a:p>
          <a:p>
            <a:pPr algn="l">
              <a:lnSpc>
                <a:spcPct val="110000"/>
              </a:lnSpc>
              <a:spcAft>
                <a:spcPts val="1000"/>
              </a:spcAft>
            </a:pPr>
            <a:r>
              <a:rPr sz="2200" b="0" i="0">
                <a:solidFill>
                  <a:srgbClr val="D63A73"/>
                </a:solidFill>
                <a:latin typeface="Barlow"/>
              </a:rPr>
              <a:t>▪  </a:t>
            </a:r>
            <a:r>
              <a:rPr sz="2200" b="0" i="0">
                <a:solidFill>
                  <a:srgbClr val="E5E7E1"/>
                </a:solidFill>
                <a:latin typeface="Barlow"/>
              </a:rPr>
              <a:t>Additional observations and independent validation.</a:t>
            </a:r>
          </a:p>
        </p:txBody>
      </p:sp>
      <p:sp>
        <p:nvSpPr>
          <p:cNvPr id="5" name="Rounded Rectangle 4"/>
          <p:cNvSpPr/>
          <p:nvPr/>
        </p:nvSpPr>
        <p:spPr>
          <a:xfrm>
            <a:off x="6492240" y="1325880"/>
            <a:ext cx="1627632" cy="1143000"/>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79" y="1389888"/>
            <a:ext cx="1463040" cy="1005840"/>
          </a:xfrm>
          <a:prstGeom prst="rect">
            <a:avLst/>
          </a:prstGeom>
          <a:noFill/>
        </p:spPr>
        <p:txBody>
          <a:bodyPr wrap="square" lIns="18288" rIns="18288" tIns="18288" bIns="18288" anchor="t">
            <a:spAutoFit/>
          </a:bodyPr>
          <a:lstStyle/>
          <a:p>
            <a:pPr algn="l">
              <a:lnSpc>
                <a:spcPct val="100000"/>
              </a:lnSpc>
            </a:pPr>
            <a:r>
              <a:rPr sz="1400" b="1" i="0">
                <a:solidFill>
                  <a:srgbClr val="E5E7E1"/>
                </a:solidFill>
                <a:latin typeface="Barlow"/>
              </a:rPr>
              <a:t>Residents</a:t>
            </a:r>
          </a:p>
          <a:p>
            <a:pPr algn="l">
              <a:lnSpc>
                <a:spcPct val="100000"/>
              </a:lnSpc>
            </a:pPr>
            <a:r>
              <a:rPr sz="1100" b="0" i="0">
                <a:solidFill>
                  <a:srgbClr val="A9ABA4"/>
                </a:solidFill>
                <a:latin typeface="Barlow"/>
              </a:rPr>
              <a:t>Opt-in enrollment, language, consent</a:t>
            </a:r>
          </a:p>
        </p:txBody>
      </p:sp>
      <p:cxnSp>
        <p:nvCxnSpPr>
          <p:cNvPr id="7" name="Connector 6"/>
          <p:cNvCxnSpPr/>
          <p:nvPr/>
        </p:nvCxnSpPr>
        <p:spPr>
          <a:xfrm>
            <a:off x="7306055" y="2514600"/>
            <a:ext cx="1746505" cy="457200"/>
          </a:xfrm>
          <a:prstGeom prst="line">
            <a:avLst/>
          </a:prstGeom>
          <a:ln w="19050">
            <a:solidFill>
              <a:srgbClr val="A9ABA4"/>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229600" y="1325880"/>
            <a:ext cx="1627632" cy="1143000"/>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89888"/>
            <a:ext cx="1463040" cy="1005840"/>
          </a:xfrm>
          <a:prstGeom prst="rect">
            <a:avLst/>
          </a:prstGeom>
          <a:noFill/>
        </p:spPr>
        <p:txBody>
          <a:bodyPr wrap="square" lIns="18288" rIns="18288" tIns="18288" bIns="18288" anchor="t">
            <a:spAutoFit/>
          </a:bodyPr>
          <a:lstStyle/>
          <a:p>
            <a:pPr algn="l">
              <a:lnSpc>
                <a:spcPct val="100000"/>
              </a:lnSpc>
            </a:pPr>
            <a:r>
              <a:rPr sz="1400" b="1" i="0">
                <a:solidFill>
                  <a:srgbClr val="E5E7E1"/>
                </a:solidFill>
                <a:latin typeface="Barlow"/>
              </a:rPr>
              <a:t>Agency partners</a:t>
            </a:r>
          </a:p>
          <a:p>
            <a:pPr algn="l">
              <a:lnSpc>
                <a:spcPct val="100000"/>
              </a:lnSpc>
            </a:pPr>
            <a:r>
              <a:rPr sz="1100" b="0" i="0">
                <a:solidFill>
                  <a:srgbClr val="A9ABA4"/>
                </a:solidFill>
                <a:latin typeface="Barlow"/>
              </a:rPr>
              <a:t>Approved zones, messages, contact data</a:t>
            </a:r>
          </a:p>
        </p:txBody>
      </p:sp>
      <p:cxnSp>
        <p:nvCxnSpPr>
          <p:cNvPr id="10" name="Connector 9"/>
          <p:cNvCxnSpPr/>
          <p:nvPr/>
        </p:nvCxnSpPr>
        <p:spPr>
          <a:xfrm>
            <a:off x="9043416" y="2514600"/>
            <a:ext cx="9144" cy="457200"/>
          </a:xfrm>
          <a:prstGeom prst="line">
            <a:avLst/>
          </a:prstGeom>
          <a:ln w="19050">
            <a:solidFill>
              <a:srgbClr val="A9ABA4"/>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966959" y="1325880"/>
            <a:ext cx="1627632" cy="1143000"/>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399" y="1389888"/>
            <a:ext cx="1463040" cy="1005840"/>
          </a:xfrm>
          <a:prstGeom prst="rect">
            <a:avLst/>
          </a:prstGeom>
          <a:noFill/>
        </p:spPr>
        <p:txBody>
          <a:bodyPr wrap="square" lIns="18288" rIns="18288" tIns="18288" bIns="18288" anchor="t">
            <a:spAutoFit/>
          </a:bodyPr>
          <a:lstStyle/>
          <a:p>
            <a:pPr algn="l">
              <a:lnSpc>
                <a:spcPct val="100000"/>
              </a:lnSpc>
            </a:pPr>
            <a:r>
              <a:rPr sz="1400" b="1" i="0">
                <a:solidFill>
                  <a:srgbClr val="E5E7E1"/>
                </a:solidFill>
                <a:latin typeface="Barlow"/>
              </a:rPr>
              <a:t>Field observations</a:t>
            </a:r>
          </a:p>
          <a:p>
            <a:pPr algn="l">
              <a:lnSpc>
                <a:spcPct val="100000"/>
              </a:lnSpc>
            </a:pPr>
            <a:r>
              <a:rPr sz="1100" b="0" i="0">
                <a:solidFill>
                  <a:srgbClr val="A9ABA4"/>
                </a:solidFill>
                <a:latin typeface="Barlow"/>
              </a:rPr>
              <a:t>Validation of fire position and model</a:t>
            </a:r>
          </a:p>
        </p:txBody>
      </p:sp>
      <p:cxnSp>
        <p:nvCxnSpPr>
          <p:cNvPr id="13" name="Connector 12"/>
          <p:cNvCxnSpPr/>
          <p:nvPr/>
        </p:nvCxnSpPr>
        <p:spPr>
          <a:xfrm flipH="1">
            <a:off x="9052560" y="2514600"/>
            <a:ext cx="1728216" cy="457200"/>
          </a:xfrm>
          <a:prstGeom prst="line">
            <a:avLst/>
          </a:prstGeom>
          <a:ln w="19050">
            <a:solidFill>
              <a:srgbClr val="A9ABA4"/>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909560" y="3017520"/>
            <a:ext cx="2286000" cy="457200"/>
          </a:xfrm>
          <a:prstGeom prst="roundRect">
            <a:avLst>
              <a:gd name="adj" fmla="val 12000"/>
            </a:avLst>
          </a:prstGeom>
          <a:noFill/>
          <a:ln w="15875">
            <a:solidFill>
              <a:srgbClr val="D63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3090672"/>
            <a:ext cx="2286000" cy="365760"/>
          </a:xfrm>
          <a:prstGeom prst="rect">
            <a:avLst/>
          </a:prstGeom>
          <a:noFill/>
        </p:spPr>
        <p:txBody>
          <a:bodyPr wrap="square" lIns="18288" rIns="18288" tIns="18288" bIns="18288" anchor="t">
            <a:spAutoFit/>
          </a:bodyPr>
          <a:lstStyle/>
          <a:p>
            <a:pPr algn="ctr">
              <a:lnSpc>
                <a:spcPct val="110000"/>
              </a:lnSpc>
            </a:pPr>
            <a:r>
              <a:rPr sz="1500" b="1" i="0">
                <a:solidFill>
                  <a:srgbClr val="E5E7E1"/>
                </a:solidFill>
                <a:latin typeface="Barlow"/>
              </a:rPr>
              <a:t>WildfireTwinLA</a:t>
            </a:r>
          </a:p>
        </p:txBody>
      </p:sp>
      <p:sp>
        <p:nvSpPr>
          <p:cNvPr id="16" name="Rounded Rectangle 15"/>
          <p:cNvSpPr/>
          <p:nvPr/>
        </p:nvSpPr>
        <p:spPr>
          <a:xfrm>
            <a:off x="10332720" y="3090672"/>
            <a:ext cx="914400" cy="292608"/>
          </a:xfrm>
          <a:prstGeom prst="roundRect">
            <a:avLst>
              <a:gd name="adj" fmla="val 12000"/>
            </a:avLst>
          </a:prstGeom>
          <a:noFill/>
          <a:ln w="15875">
            <a:solidFill>
              <a:srgbClr val="E5E7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0" y="3122676"/>
            <a:ext cx="914400" cy="246888"/>
          </a:xfrm>
          <a:prstGeom prst="rect">
            <a:avLst/>
          </a:prstGeom>
          <a:noFill/>
        </p:spPr>
        <p:txBody>
          <a:bodyPr wrap="square" lIns="18288" rIns="18288" tIns="18288" bIns="18288" anchor="t">
            <a:spAutoFit/>
          </a:bodyPr>
          <a:lstStyle/>
          <a:p>
            <a:pPr algn="ctr">
              <a:lnSpc>
                <a:spcPct val="110000"/>
              </a:lnSpc>
            </a:pPr>
            <a:r>
              <a:rPr sz="1200" b="1" i="0">
                <a:solidFill>
                  <a:srgbClr val="E5E7E1"/>
                </a:solidFill>
                <a:latin typeface="Barlow"/>
              </a:rPr>
              <a:t>PROPOSED</a:t>
            </a:r>
          </a:p>
        </p:txBody>
      </p:sp>
      <p:sp>
        <p:nvSpPr>
          <p:cNvPr id="18" name="Rounded Rectangle 17"/>
          <p:cNvSpPr/>
          <p:nvPr/>
        </p:nvSpPr>
        <p:spPr>
          <a:xfrm>
            <a:off x="548640" y="3657600"/>
            <a:ext cx="5486400" cy="2697480"/>
          </a:xfrm>
          <a:prstGeom prst="roundRect">
            <a:avLst>
              <a:gd name="adj" fmla="val 12000"/>
            </a:avLst>
          </a:prstGeom>
          <a:solidFill>
            <a:srgbClr val="2B231F"/>
          </a:solidFill>
          <a:ln w="15875">
            <a:solidFill>
              <a:srgbClr val="E8A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749039"/>
            <a:ext cx="5166360" cy="2560320"/>
          </a:xfrm>
          <a:prstGeom prst="rect">
            <a:avLst/>
          </a:prstGeom>
          <a:noFill/>
        </p:spPr>
        <p:txBody>
          <a:bodyPr wrap="square" lIns="18288" rIns="18288" tIns="18288" bIns="18288" anchor="t">
            <a:spAutoFit/>
          </a:bodyPr>
          <a:lstStyle/>
          <a:p>
            <a:pPr algn="l">
              <a:lnSpc>
                <a:spcPct val="100000"/>
              </a:lnSpc>
              <a:spcAft>
                <a:spcPts val="600"/>
              </a:spcAft>
            </a:pPr>
            <a:r>
              <a:rPr sz="1700" b="1" i="0">
                <a:solidFill>
                  <a:srgbClr val="E8A33A"/>
                </a:solidFill>
                <a:latin typeface="Barlow"/>
              </a:rPr>
              <a:t>Twist 1 — Federal funding pathway</a:t>
            </a:r>
          </a:p>
          <a:p>
            <a:pPr algn="l">
              <a:lnSpc>
                <a:spcPct val="100000"/>
              </a:lnSpc>
              <a:spcAft>
                <a:spcPts val="600"/>
              </a:spcAft>
            </a:pPr>
            <a:r>
              <a:rPr sz="1400" b="0" i="0">
                <a:solidFill>
                  <a:srgbClr val="E5E7E1"/>
                </a:solidFill>
                <a:latin typeface="Barlow"/>
              </a:rPr>
              <a:t>Primary: USDA Forest Service Community Wildfire Defense Grant (CWDG). It funds Community Wildfire Protection Plans (up to $250k) and their projects; we would join an eligible community or Fire Safe Council application as the planning-and-outreach tool.</a:t>
            </a:r>
          </a:p>
          <a:p>
            <a:pPr algn="l">
              <a:lnSpc>
                <a:spcPct val="100000"/>
              </a:lnSpc>
              <a:spcAft>
                <a:spcPts val="600"/>
              </a:spcAft>
            </a:pPr>
            <a:r>
              <a:rPr sz="1400" b="0" i="0">
                <a:solidFill>
                  <a:srgbClr val="E5E7E1"/>
                </a:solidFill>
                <a:latin typeface="Barlow"/>
              </a:rPr>
              <a:t>Alternative: NSF SBIR/STTR (America’s Seed Fund), reauthorized through Sept 30, 2031; project pitches accepted anytime.</a:t>
            </a:r>
          </a:p>
          <a:p>
            <a:pPr algn="l">
              <a:lnSpc>
                <a:spcPct val="100000"/>
              </a:lnSpc>
            </a:pPr>
            <a:r>
              <a:rPr sz="1000" b="0" i="0">
                <a:solidFill>
                  <a:srgbClr val="A9ABA4"/>
                </a:solidFill>
                <a:latin typeface="Barlow"/>
              </a:rPr>
              <a:t>fs.usda.gov CWDG (next round not yet posted); sba.gov, Apr 13, 2026; seedfund.nsf.gov. Retrieved Oct 17, 2026.</a:t>
            </a:r>
          </a:p>
        </p:txBody>
      </p:sp>
      <p:sp>
        <p:nvSpPr>
          <p:cNvPr id="20" name="Rounded Rectangle 19"/>
          <p:cNvSpPr/>
          <p:nvPr/>
        </p:nvSpPr>
        <p:spPr>
          <a:xfrm>
            <a:off x="6172200" y="3657600"/>
            <a:ext cx="5486400" cy="2697480"/>
          </a:xfrm>
          <a:prstGeom prst="roundRect">
            <a:avLst>
              <a:gd name="adj" fmla="val 12000"/>
            </a:avLst>
          </a:prstGeom>
          <a:solidFill>
            <a:srgbClr val="2B231F"/>
          </a:solidFill>
          <a:ln w="15875">
            <a:solidFill>
              <a:srgbClr val="E8A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792" y="3749039"/>
            <a:ext cx="5166360" cy="2560320"/>
          </a:xfrm>
          <a:prstGeom prst="rect">
            <a:avLst/>
          </a:prstGeom>
          <a:noFill/>
        </p:spPr>
        <p:txBody>
          <a:bodyPr wrap="square" lIns="18288" rIns="18288" tIns="18288" bIns="18288" anchor="t">
            <a:spAutoFit/>
          </a:bodyPr>
          <a:lstStyle/>
          <a:p>
            <a:pPr algn="l">
              <a:lnSpc>
                <a:spcPct val="100000"/>
              </a:lnSpc>
              <a:spcAft>
                <a:spcPts val="600"/>
              </a:spcAft>
            </a:pPr>
            <a:r>
              <a:rPr sz="1700" b="1" i="0">
                <a:solidFill>
                  <a:srgbClr val="E8A33A"/>
                </a:solidFill>
                <a:latin typeface="Barlow"/>
              </a:rPr>
              <a:t>Twist 2 — Going global (e.g., China)</a:t>
            </a:r>
          </a:p>
          <a:p>
            <a:pPr algn="l">
              <a:lnSpc>
                <a:spcPct val="100000"/>
              </a:lnSpc>
              <a:spcAft>
                <a:spcPts val="600"/>
              </a:spcAft>
            </a:pPr>
            <a:r>
              <a:rPr sz="1400" b="0" i="0">
                <a:solidFill>
                  <a:srgbClr val="E5E7E1"/>
                </a:solidFill>
                <a:latin typeface="Barlow"/>
              </a:rPr>
              <a:t>Carries over: NASA FIRMS fire detections, Sentinel-2 imagery, Copernicus GLO-30 elevation; ECMWF or GFS weather replaces US-only HRRR.</a:t>
            </a:r>
          </a:p>
          <a:p>
            <a:pPr algn="l">
              <a:lnSpc>
                <a:spcPct val="100000"/>
              </a:lnSpc>
              <a:spcAft>
                <a:spcPts val="600"/>
              </a:spcAft>
            </a:pPr>
            <a:r>
              <a:rPr sz="1400" b="0" i="0">
                <a:solidFill>
                  <a:srgbClr val="E5E7E1"/>
                </a:solidFill>
                <a:latin typeface="Barlow"/>
              </a:rPr>
              <a:t>Needs local work: fuel maps (LANDFIRE is US-only), building footprints (OSM is sparse in many regions), agency zones, contact consent, local telephony rules.</a:t>
            </a:r>
          </a:p>
          <a:p>
            <a:pPr algn="l">
              <a:lnSpc>
                <a:spcPct val="100000"/>
              </a:lnSpc>
              <a:spcAft>
                <a:spcPts val="600"/>
              </a:spcAft>
            </a:pPr>
            <a:r>
              <a:rPr sz="1400" b="0" i="0">
                <a:solidFill>
                  <a:srgbClr val="E5E7E1"/>
                </a:solidFill>
                <a:latin typeface="Barlow"/>
              </a:rPr>
              <a:t>Retell voice agents support Mandarin (zh-CN).</a:t>
            </a:r>
          </a:p>
          <a:p>
            <a:pPr algn="l">
              <a:lnSpc>
                <a:spcPct val="100000"/>
              </a:lnSpc>
            </a:pPr>
            <a:r>
              <a:rPr sz="1000" b="0" i="0">
                <a:solidFill>
                  <a:srgbClr val="A9ABA4"/>
                </a:solidFill>
                <a:latin typeface="Barlow"/>
              </a:rPr>
              <a:t>NASA FIRMS; Copernicus; LANDFIRE; NOAA NCO; Herfort et al., Nature Comms 2023; docs.retellai.com. Retrieved Oct 17, 2026.</a:t>
            </a:r>
          </a:p>
        </p:txBody>
      </p:sp>
      <p:sp>
        <p:nvSpPr>
          <p:cNvPr id="22" name="TextBox 21"/>
          <p:cNvSpPr txBox="1"/>
          <p:nvPr/>
        </p:nvSpPr>
        <p:spPr>
          <a:xfrm>
            <a:off x="548640" y="6455664"/>
            <a:ext cx="1097280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No agency relationship or funding award is implied. Building footprints do not establish a resident’s phone number or permission to call.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No answer does not mean safe.</a:t>
            </a:r>
          </a:p>
        </p:txBody>
      </p:sp>
      <p:sp>
        <p:nvSpPr>
          <p:cNvPr id="3" name="TextBox 2"/>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9</a:t>
            </a:r>
          </a:p>
        </p:txBody>
      </p:sp>
      <p:sp>
        <p:nvSpPr>
          <p:cNvPr id="4" name="TextBox 3"/>
          <p:cNvSpPr txBox="1"/>
          <p:nvPr/>
        </p:nvSpPr>
        <p:spPr>
          <a:xfrm>
            <a:off x="548640" y="6455664"/>
            <a:ext cx="1024128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Experimental, unofficial model outputs. Demo contacts and call outcomes are fictional. Follow official evacuation instructions.</a:t>
            </a:r>
          </a:p>
        </p:txBody>
      </p:sp>
      <p:sp>
        <p:nvSpPr>
          <p:cNvPr id="5" name="Rounded Rectangle 4"/>
          <p:cNvSpPr/>
          <p:nvPr/>
        </p:nvSpPr>
        <p:spPr>
          <a:xfrm>
            <a:off x="548640" y="1280160"/>
            <a:ext cx="6035040" cy="566928"/>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89888"/>
            <a:ext cx="5760720" cy="411480"/>
          </a:xfrm>
          <a:prstGeom prst="rect">
            <a:avLst/>
          </a:prstGeom>
          <a:noFill/>
        </p:spPr>
        <p:txBody>
          <a:bodyPr wrap="square" lIns="18288" rIns="18288" tIns="18288" bIns="18288" anchor="t">
            <a:spAutoFit/>
          </a:bodyPr>
          <a:lstStyle/>
          <a:p>
            <a:pPr algn="l">
              <a:lnSpc>
                <a:spcPct val="110000"/>
              </a:lnSpc>
            </a:pPr>
            <a:r>
              <a:rPr sz="1800" b="1" i="0">
                <a:solidFill>
                  <a:srgbClr val="E5E7E1"/>
                </a:solidFill>
                <a:latin typeface="Barlow"/>
              </a:rPr>
              <a:t>Call attempted</a:t>
            </a:r>
          </a:p>
        </p:txBody>
      </p:sp>
      <p:cxnSp>
        <p:nvCxnSpPr>
          <p:cNvPr id="7" name="Connector 6"/>
          <p:cNvCxnSpPr/>
          <p:nvPr/>
        </p:nvCxnSpPr>
        <p:spPr>
          <a:xfrm>
            <a:off x="1097280" y="1865376"/>
            <a:ext cx="0" cy="219455"/>
          </a:xfrm>
          <a:prstGeom prst="line">
            <a:avLst/>
          </a:prstGeom>
          <a:ln w="25400">
            <a:solidFill>
              <a:srgbClr val="A9ABA4"/>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103120"/>
            <a:ext cx="6035040" cy="566928"/>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12848"/>
            <a:ext cx="5760720" cy="411480"/>
          </a:xfrm>
          <a:prstGeom prst="rect">
            <a:avLst/>
          </a:prstGeom>
          <a:noFill/>
        </p:spPr>
        <p:txBody>
          <a:bodyPr wrap="square" lIns="18288" rIns="18288" tIns="18288" bIns="18288" anchor="t">
            <a:spAutoFit/>
          </a:bodyPr>
          <a:lstStyle/>
          <a:p>
            <a:pPr algn="l">
              <a:lnSpc>
                <a:spcPct val="110000"/>
              </a:lnSpc>
            </a:pPr>
            <a:r>
              <a:rPr sz="1800" b="0" i="0">
                <a:solidFill>
                  <a:srgbClr val="E5E7E1"/>
                </a:solidFill>
                <a:latin typeface="Barlow"/>
              </a:rPr>
              <a:t>No answer → retry once after 3 min</a:t>
            </a:r>
          </a:p>
        </p:txBody>
      </p:sp>
      <p:sp>
        <p:nvSpPr>
          <p:cNvPr id="10" name="Rounded Rectangle 9"/>
          <p:cNvSpPr/>
          <p:nvPr/>
        </p:nvSpPr>
        <p:spPr>
          <a:xfrm>
            <a:off x="6720840" y="2240279"/>
            <a:ext cx="1778507" cy="292608"/>
          </a:xfrm>
          <a:prstGeom prst="roundRect">
            <a:avLst>
              <a:gd name="adj" fmla="val 12000"/>
            </a:avLst>
          </a:prstGeom>
          <a:noFill/>
          <a:ln w="15875">
            <a:solidFill>
              <a:srgbClr val="D63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2272284"/>
            <a:ext cx="1778507" cy="246888"/>
          </a:xfrm>
          <a:prstGeom prst="rect">
            <a:avLst/>
          </a:prstGeom>
          <a:noFill/>
        </p:spPr>
        <p:txBody>
          <a:bodyPr wrap="square" lIns="18288" rIns="18288" tIns="18288" bIns="18288" anchor="t">
            <a:spAutoFit/>
          </a:bodyPr>
          <a:lstStyle/>
          <a:p>
            <a:pPr algn="ctr">
              <a:lnSpc>
                <a:spcPct val="110000"/>
              </a:lnSpc>
            </a:pPr>
            <a:r>
              <a:rPr sz="1200" b="1" i="0">
                <a:solidFill>
                  <a:srgbClr val="D63A73"/>
                </a:solidFill>
                <a:latin typeface="Barlow"/>
              </a:rPr>
              <a:t>SIMULATED CONTACT</a:t>
            </a:r>
          </a:p>
        </p:txBody>
      </p:sp>
      <p:cxnSp>
        <p:nvCxnSpPr>
          <p:cNvPr id="12" name="Connector 11"/>
          <p:cNvCxnSpPr/>
          <p:nvPr/>
        </p:nvCxnSpPr>
        <p:spPr>
          <a:xfrm>
            <a:off x="1097280" y="2688336"/>
            <a:ext cx="0" cy="219455"/>
          </a:xfrm>
          <a:prstGeom prst="line">
            <a:avLst/>
          </a:prstGeom>
          <a:ln w="25400">
            <a:solidFill>
              <a:srgbClr val="A9ABA4"/>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2926079"/>
            <a:ext cx="6035040" cy="566928"/>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035808"/>
            <a:ext cx="5760720" cy="411480"/>
          </a:xfrm>
          <a:prstGeom prst="rect">
            <a:avLst/>
          </a:prstGeom>
          <a:noFill/>
        </p:spPr>
        <p:txBody>
          <a:bodyPr wrap="square" lIns="18288" rIns="18288" tIns="18288" bIns="18288" anchor="t">
            <a:spAutoFit/>
          </a:bodyPr>
          <a:lstStyle/>
          <a:p>
            <a:pPr algn="l">
              <a:lnSpc>
                <a:spcPct val="110000"/>
              </a:lnSpc>
            </a:pPr>
            <a:r>
              <a:rPr sz="1800" b="0" i="0">
                <a:solidFill>
                  <a:srgbClr val="E5E7E1"/>
                </a:solidFill>
                <a:latin typeface="Barlow"/>
              </a:rPr>
              <a:t>Still no answer → text moved up the queue</a:t>
            </a:r>
          </a:p>
        </p:txBody>
      </p:sp>
      <p:sp>
        <p:nvSpPr>
          <p:cNvPr id="15" name="Rounded Rectangle 14"/>
          <p:cNvSpPr/>
          <p:nvPr/>
        </p:nvSpPr>
        <p:spPr>
          <a:xfrm>
            <a:off x="6720840" y="3063239"/>
            <a:ext cx="1778507" cy="292608"/>
          </a:xfrm>
          <a:prstGeom prst="roundRect">
            <a:avLst>
              <a:gd name="adj" fmla="val 12000"/>
            </a:avLst>
          </a:prstGeom>
          <a:noFill/>
          <a:ln w="15875">
            <a:solidFill>
              <a:srgbClr val="D63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3095244"/>
            <a:ext cx="1778507" cy="246888"/>
          </a:xfrm>
          <a:prstGeom prst="rect">
            <a:avLst/>
          </a:prstGeom>
          <a:noFill/>
        </p:spPr>
        <p:txBody>
          <a:bodyPr wrap="square" lIns="18288" rIns="18288" tIns="18288" bIns="18288" anchor="t">
            <a:spAutoFit/>
          </a:bodyPr>
          <a:lstStyle/>
          <a:p>
            <a:pPr algn="ctr">
              <a:lnSpc>
                <a:spcPct val="110000"/>
              </a:lnSpc>
            </a:pPr>
            <a:r>
              <a:rPr sz="1200" b="1" i="0">
                <a:solidFill>
                  <a:srgbClr val="D63A73"/>
                </a:solidFill>
                <a:latin typeface="Barlow"/>
              </a:rPr>
              <a:t>SIMULATED CONTACT</a:t>
            </a:r>
          </a:p>
        </p:txBody>
      </p:sp>
      <p:cxnSp>
        <p:nvCxnSpPr>
          <p:cNvPr id="17" name="Connector 16"/>
          <p:cNvCxnSpPr/>
          <p:nvPr/>
        </p:nvCxnSpPr>
        <p:spPr>
          <a:xfrm>
            <a:off x="1097280" y="3511296"/>
            <a:ext cx="0" cy="219456"/>
          </a:xfrm>
          <a:prstGeom prst="line">
            <a:avLst/>
          </a:prstGeom>
          <a:ln w="25400">
            <a:solidFill>
              <a:srgbClr val="A9ABA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3749039"/>
            <a:ext cx="6035040" cy="566928"/>
          </a:xfrm>
          <a:prstGeom prst="roundRect">
            <a:avLst>
              <a:gd name="adj" fmla="val 12000"/>
            </a:avLst>
          </a:prstGeom>
          <a:solidFill>
            <a:srgbClr val="2B2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858768"/>
            <a:ext cx="5760720" cy="411480"/>
          </a:xfrm>
          <a:prstGeom prst="rect">
            <a:avLst/>
          </a:prstGeom>
          <a:noFill/>
        </p:spPr>
        <p:txBody>
          <a:bodyPr wrap="square" lIns="18288" rIns="18288" tIns="18288" bIns="18288" anchor="t">
            <a:spAutoFit/>
          </a:bodyPr>
          <a:lstStyle/>
          <a:p>
            <a:pPr algn="l">
              <a:lnSpc>
                <a:spcPct val="110000"/>
              </a:lnSpc>
            </a:pPr>
            <a:r>
              <a:rPr sz="1800" b="0" i="0">
                <a:solidFill>
                  <a:srgbClr val="E5E7E1"/>
                </a:solidFill>
                <a:latin typeface="Barlow"/>
              </a:rPr>
              <a:t>Text delivered ≠ acknowledged</a:t>
            </a:r>
          </a:p>
        </p:txBody>
      </p:sp>
      <p:cxnSp>
        <p:nvCxnSpPr>
          <p:cNvPr id="20" name="Connector 19"/>
          <p:cNvCxnSpPr/>
          <p:nvPr/>
        </p:nvCxnSpPr>
        <p:spPr>
          <a:xfrm>
            <a:off x="1097280" y="4334255"/>
            <a:ext cx="0" cy="219457"/>
          </a:xfrm>
          <a:prstGeom prst="line">
            <a:avLst/>
          </a:prstGeom>
          <a:ln w="25400">
            <a:solidFill>
              <a:srgbClr val="A9ABA4"/>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4572000"/>
            <a:ext cx="6035040" cy="566928"/>
          </a:xfrm>
          <a:prstGeom prst="roundRect">
            <a:avLst>
              <a:gd name="adj" fmla="val 12000"/>
            </a:avLst>
          </a:prstGeom>
          <a:solidFill>
            <a:srgbClr val="2B231F"/>
          </a:solidFill>
          <a:ln w="15875">
            <a:solidFill>
              <a:srgbClr val="E8A3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681728"/>
            <a:ext cx="5760720" cy="411480"/>
          </a:xfrm>
          <a:prstGeom prst="rect">
            <a:avLst/>
          </a:prstGeom>
          <a:noFill/>
        </p:spPr>
        <p:txBody>
          <a:bodyPr wrap="square" lIns="18288" rIns="18288" tIns="18288" bIns="18288" anchor="t">
            <a:spAutoFit/>
          </a:bodyPr>
          <a:lstStyle/>
          <a:p>
            <a:pPr algn="l">
              <a:lnSpc>
                <a:spcPct val="110000"/>
              </a:lnSpc>
            </a:pPr>
            <a:r>
              <a:rPr sz="1800" b="1" i="0">
                <a:solidFill>
                  <a:srgbClr val="E5E7E1"/>
                </a:solidFill>
                <a:latin typeface="Barlow"/>
              </a:rPr>
              <a:t>Reply captured?  Yes → record · No → unresolved</a:t>
            </a:r>
          </a:p>
        </p:txBody>
      </p:sp>
      <p:sp>
        <p:nvSpPr>
          <p:cNvPr id="23" name="Rounded Rectangle 22"/>
          <p:cNvSpPr/>
          <p:nvPr/>
        </p:nvSpPr>
        <p:spPr>
          <a:xfrm>
            <a:off x="6720840" y="4709160"/>
            <a:ext cx="818388" cy="292608"/>
          </a:xfrm>
          <a:prstGeom prst="roundRect">
            <a:avLst>
              <a:gd name="adj" fmla="val 12000"/>
            </a:avLst>
          </a:prstGeom>
          <a:noFill/>
          <a:ln w="15875">
            <a:solidFill>
              <a:srgbClr val="E5E7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741164"/>
            <a:ext cx="818388" cy="246888"/>
          </a:xfrm>
          <a:prstGeom prst="rect">
            <a:avLst/>
          </a:prstGeom>
          <a:noFill/>
        </p:spPr>
        <p:txBody>
          <a:bodyPr wrap="square" lIns="18288" rIns="18288" tIns="18288" bIns="18288" anchor="t">
            <a:spAutoFit/>
          </a:bodyPr>
          <a:lstStyle/>
          <a:p>
            <a:pPr algn="ctr">
              <a:lnSpc>
                <a:spcPct val="110000"/>
              </a:lnSpc>
            </a:pPr>
            <a:r>
              <a:rPr sz="1200" b="1" i="0">
                <a:solidFill>
                  <a:srgbClr val="E5E7E1"/>
                </a:solidFill>
                <a:latin typeface="Barlow"/>
              </a:rPr>
              <a:t>PLANNED</a:t>
            </a:r>
          </a:p>
        </p:txBody>
      </p:sp>
      <p:pic>
        <p:nvPicPr>
          <p:cNvPr id="25" name="Picture 24" descr="P1-missed.png"/>
          <p:cNvPicPr>
            <a:picLocks noChangeAspect="1"/>
          </p:cNvPicPr>
          <p:nvPr/>
        </p:nvPicPr>
        <p:blipFill>
          <a:blip r:embed="rId3"/>
          <a:stretch>
            <a:fillRect/>
          </a:stretch>
        </p:blipFill>
        <p:spPr>
          <a:xfrm>
            <a:off x="8686800" y="1280160"/>
            <a:ext cx="2971800" cy="638889"/>
          </a:xfrm>
          <a:prstGeom prst="rect">
            <a:avLst/>
          </a:prstGeom>
          <a:ln w="9525">
            <a:solidFill>
              <a:srgbClr val="453C37"/>
            </a:solidFill>
          </a:ln>
        </p:spPr>
      </p:pic>
      <p:pic>
        <p:nvPicPr>
          <p:cNvPr id="26" name="Picture 25" descr="P10-retry-row.png"/>
          <p:cNvPicPr>
            <a:picLocks noChangeAspect="1"/>
          </p:cNvPicPr>
          <p:nvPr/>
        </p:nvPicPr>
        <p:blipFill>
          <a:blip r:embed="rId4"/>
          <a:stretch>
            <a:fillRect/>
          </a:stretch>
        </p:blipFill>
        <p:spPr>
          <a:xfrm>
            <a:off x="8686800" y="2057400"/>
            <a:ext cx="2971800" cy="484007"/>
          </a:xfrm>
          <a:prstGeom prst="rect">
            <a:avLst/>
          </a:prstGeom>
          <a:ln w="9525">
            <a:solidFill>
              <a:srgbClr val="453C37"/>
            </a:solidFill>
          </a:ln>
        </p:spPr>
      </p:pic>
      <p:sp>
        <p:nvSpPr>
          <p:cNvPr id="27" name="TextBox 26"/>
          <p:cNvSpPr txBox="1"/>
          <p:nvPr/>
        </p:nvSpPr>
        <p:spPr>
          <a:xfrm>
            <a:off x="8686800" y="2651760"/>
            <a:ext cx="2971800" cy="822960"/>
          </a:xfrm>
          <a:prstGeom prst="rect">
            <a:avLst/>
          </a:prstGeom>
          <a:noFill/>
        </p:spPr>
        <p:txBody>
          <a:bodyPr wrap="square" lIns="18288" rIns="18288" tIns="18288" bIns="18288" anchor="t">
            <a:spAutoFit/>
          </a:bodyPr>
          <a:lstStyle/>
          <a:p>
            <a:pPr algn="l">
              <a:lnSpc>
                <a:spcPct val="100000"/>
              </a:lnSpc>
            </a:pPr>
            <a:r>
              <a:rPr sz="1300" b="0" i="0">
                <a:solidFill>
                  <a:srgbClr val="E8A33A"/>
                </a:solidFill>
                <a:latin typeface="Barlow"/>
              </a:rPr>
              <a:t>Line card and queue row in the demo: the retry stays visible to the operator.</a:t>
            </a:r>
          </a:p>
        </p:txBody>
      </p:sp>
      <p:sp>
        <p:nvSpPr>
          <p:cNvPr id="28" name="Rounded Rectangle 27"/>
          <p:cNvSpPr/>
          <p:nvPr/>
        </p:nvSpPr>
        <p:spPr>
          <a:xfrm>
            <a:off x="548640" y="5440680"/>
            <a:ext cx="3611880" cy="777240"/>
          </a:xfrm>
          <a:prstGeom prst="roundRect">
            <a:avLst>
              <a:gd name="adj" fmla="val 12000"/>
            </a:avLst>
          </a:prstGeom>
          <a:noFill/>
          <a:ln w="15875">
            <a:solidFill>
              <a:srgbClr val="554C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504688"/>
            <a:ext cx="3383280" cy="685800"/>
          </a:xfrm>
          <a:prstGeom prst="rect">
            <a:avLst/>
          </a:prstGeom>
          <a:noFill/>
        </p:spPr>
        <p:txBody>
          <a:bodyPr wrap="square" lIns="18288" rIns="18288" tIns="18288" bIns="18288" anchor="t">
            <a:spAutoFit/>
          </a:bodyPr>
          <a:lstStyle/>
          <a:p>
            <a:pPr algn="l">
              <a:lnSpc>
                <a:spcPct val="100000"/>
              </a:lnSpc>
            </a:pPr>
            <a:r>
              <a:rPr sz="1400" b="0" i="0">
                <a:solidFill>
                  <a:srgbClr val="E5E7E1"/>
                </a:solidFill>
                <a:latin typeface="Barlow"/>
              </a:rPr>
              <a:t>Stale fire data → show age</a:t>
            </a:r>
          </a:p>
          <a:p>
            <a:pPr algn="l">
              <a:lnSpc>
                <a:spcPct val="100000"/>
              </a:lnSpc>
            </a:pPr>
            <a:r>
              <a:rPr sz="1100" b="1" i="0">
                <a:solidFill>
                  <a:srgbClr val="A9ABA4"/>
                </a:solidFill>
                <a:latin typeface="Barlow"/>
              </a:rPr>
              <a:t>PLANNED</a:t>
            </a:r>
          </a:p>
        </p:txBody>
      </p:sp>
      <p:sp>
        <p:nvSpPr>
          <p:cNvPr id="30" name="Rounded Rectangle 29"/>
          <p:cNvSpPr/>
          <p:nvPr/>
        </p:nvSpPr>
        <p:spPr>
          <a:xfrm>
            <a:off x="4279392" y="5440680"/>
            <a:ext cx="3611880" cy="777240"/>
          </a:xfrm>
          <a:prstGeom prst="roundRect">
            <a:avLst>
              <a:gd name="adj" fmla="val 12000"/>
            </a:avLst>
          </a:prstGeom>
          <a:noFill/>
          <a:ln w="15875">
            <a:solidFill>
              <a:srgbClr val="554C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16552" y="5504688"/>
            <a:ext cx="3383280" cy="685800"/>
          </a:xfrm>
          <a:prstGeom prst="rect">
            <a:avLst/>
          </a:prstGeom>
          <a:noFill/>
        </p:spPr>
        <p:txBody>
          <a:bodyPr wrap="square" lIns="18288" rIns="18288" tIns="18288" bIns="18288" anchor="t">
            <a:spAutoFit/>
          </a:bodyPr>
          <a:lstStyle/>
          <a:p>
            <a:pPr algn="l">
              <a:lnSpc>
                <a:spcPct val="100000"/>
              </a:lnSpc>
            </a:pPr>
            <a:r>
              <a:rPr sz="1400" b="0" i="0">
                <a:solidFill>
                  <a:srgbClr val="E5E7E1"/>
                </a:solidFill>
                <a:latin typeface="Barlow"/>
              </a:rPr>
              <a:t>Missing observations → simulation remains an estimate</a:t>
            </a:r>
          </a:p>
          <a:p>
            <a:pPr algn="l">
              <a:lnSpc>
                <a:spcPct val="100000"/>
              </a:lnSpc>
            </a:pPr>
            <a:r>
              <a:rPr sz="1100" b="1" i="0">
                <a:solidFill>
                  <a:srgbClr val="A9ABA4"/>
                </a:solidFill>
                <a:latin typeface="Barlow"/>
              </a:rPr>
              <a:t/>
            </a:r>
          </a:p>
        </p:txBody>
      </p:sp>
      <p:sp>
        <p:nvSpPr>
          <p:cNvPr id="32" name="Rounded Rectangle 31"/>
          <p:cNvSpPr/>
          <p:nvPr/>
        </p:nvSpPr>
        <p:spPr>
          <a:xfrm>
            <a:off x="8010144" y="5440680"/>
            <a:ext cx="3611880" cy="777240"/>
          </a:xfrm>
          <a:prstGeom prst="roundRect">
            <a:avLst>
              <a:gd name="adj" fmla="val 12000"/>
            </a:avLst>
          </a:prstGeom>
          <a:noFill/>
          <a:ln w="15875">
            <a:solidFill>
              <a:srgbClr val="554C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47304" y="5504688"/>
            <a:ext cx="3383280" cy="685800"/>
          </a:xfrm>
          <a:prstGeom prst="rect">
            <a:avLst/>
          </a:prstGeom>
          <a:noFill/>
        </p:spPr>
        <p:txBody>
          <a:bodyPr wrap="square" lIns="18288" rIns="18288" tIns="18288" bIns="18288" anchor="t">
            <a:spAutoFit/>
          </a:bodyPr>
          <a:lstStyle/>
          <a:p>
            <a:pPr algn="l">
              <a:lnSpc>
                <a:spcPct val="100000"/>
              </a:lnSpc>
            </a:pPr>
            <a:r>
              <a:rPr sz="1400" b="0" i="0">
                <a:solidFill>
                  <a:srgbClr val="E5E7E1"/>
                </a:solidFill>
                <a:latin typeface="Barlow"/>
              </a:rPr>
              <a:t>Phone/SMS outage → delivery unavailable</a:t>
            </a:r>
          </a:p>
          <a:p>
            <a:pPr algn="l">
              <a:lnSpc>
                <a:spcPct val="100000"/>
              </a:lnSpc>
            </a:pPr>
            <a:r>
              <a:rPr sz="1100" b="1" i="0">
                <a:solidFill>
                  <a:srgbClr val="A9ABA4"/>
                </a:solidFill>
                <a:latin typeface="Barlow"/>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A17"/>
        </a:solidFill>
        <a:effectLst/>
      </p:bgPr>
    </p:bg>
    <p:spTree>
      <p:nvGrpSpPr>
        <p:cNvPr id="1" name=""/>
        <p:cNvGrpSpPr/>
        <p:nvPr/>
      </p:nvGrpSpPr>
      <p:grpSpPr/>
      <p:sp>
        <p:nvSpPr>
          <p:cNvPr id="2" name="TextBox 1"/>
          <p:cNvSpPr txBox="1"/>
          <p:nvPr/>
        </p:nvSpPr>
        <p:spPr>
          <a:xfrm>
            <a:off x="548640" y="347472"/>
            <a:ext cx="11064240" cy="731520"/>
          </a:xfrm>
          <a:prstGeom prst="rect">
            <a:avLst/>
          </a:prstGeom>
          <a:noFill/>
        </p:spPr>
        <p:txBody>
          <a:bodyPr wrap="square" lIns="18288" rIns="18288" tIns="18288" bIns="18288" anchor="t">
            <a:spAutoFit/>
          </a:bodyPr>
          <a:lstStyle/>
          <a:p>
            <a:pPr algn="l">
              <a:lnSpc>
                <a:spcPct val="110000"/>
              </a:lnSpc>
            </a:pPr>
            <a:r>
              <a:rPr sz="3800" b="1" i="0">
                <a:solidFill>
                  <a:srgbClr val="E5E7E1"/>
                </a:solidFill>
                <a:latin typeface="Barlow"/>
              </a:rPr>
              <a:t>One workflow from preparation to outreach.</a:t>
            </a:r>
          </a:p>
        </p:txBody>
      </p:sp>
      <p:sp>
        <p:nvSpPr>
          <p:cNvPr id="3" name="TextBox 2"/>
          <p:cNvSpPr txBox="1"/>
          <p:nvPr/>
        </p:nvSpPr>
        <p:spPr>
          <a:xfrm>
            <a:off x="548640" y="987552"/>
            <a:ext cx="11064240" cy="457200"/>
          </a:xfrm>
          <a:prstGeom prst="rect">
            <a:avLst/>
          </a:prstGeom>
          <a:noFill/>
        </p:spPr>
        <p:txBody>
          <a:bodyPr wrap="square" lIns="18288" rIns="18288" tIns="18288" bIns="18288" anchor="t">
            <a:spAutoFit/>
          </a:bodyPr>
          <a:lstStyle/>
          <a:p>
            <a:pPr algn="l">
              <a:lnSpc>
                <a:spcPct val="110000"/>
              </a:lnSpc>
            </a:pPr>
            <a:r>
              <a:rPr sz="2000" b="0" i="0">
                <a:solidFill>
                  <a:srgbClr val="A9ABA4"/>
                </a:solidFill>
                <a:latin typeface="Barlow"/>
              </a:rPr>
              <a:t>The map feeds an inspectable next action.</a:t>
            </a:r>
          </a:p>
        </p:txBody>
      </p:sp>
      <p:sp>
        <p:nvSpPr>
          <p:cNvPr id="4" name="TextBox 3"/>
          <p:cNvSpPr txBox="1"/>
          <p:nvPr/>
        </p:nvSpPr>
        <p:spPr>
          <a:xfrm>
            <a:off x="11155680" y="6455664"/>
            <a:ext cx="548640" cy="274320"/>
          </a:xfrm>
          <a:prstGeom prst="rect">
            <a:avLst/>
          </a:prstGeom>
          <a:noFill/>
        </p:spPr>
        <p:txBody>
          <a:bodyPr wrap="square" lIns="18288" rIns="18288" tIns="18288" bIns="18288" anchor="t">
            <a:spAutoFit/>
          </a:bodyPr>
          <a:lstStyle/>
          <a:p>
            <a:pPr algn="r">
              <a:lnSpc>
                <a:spcPct val="110000"/>
              </a:lnSpc>
            </a:pPr>
            <a:r>
              <a:rPr sz="1200" b="0" i="0">
                <a:solidFill>
                  <a:srgbClr val="A9ABA4"/>
                </a:solidFill>
                <a:latin typeface="Barlow"/>
              </a:rPr>
              <a:t>10</a:t>
            </a:r>
          </a:p>
        </p:txBody>
      </p:sp>
      <p:graphicFrame>
        <p:nvGraphicFramePr>
          <p:cNvPr id="5" name="Table 4"/>
          <p:cNvGraphicFramePr>
            <a:graphicFrameLocks noGrp="1"/>
          </p:cNvGraphicFramePr>
          <p:nvPr/>
        </p:nvGraphicFramePr>
        <p:xfrm>
          <a:off x="548640" y="1600200"/>
          <a:ext cx="6949440" cy="2377440"/>
        </p:xfrm>
        <a:graphic>
          <a:graphicData uri="http://schemas.openxmlformats.org/drawingml/2006/table">
            <a:tbl>
              <a:tblPr firstRow="1" bandRow="1">
                <a:tableStyleId>{5C22544A-7EE6-4342-B048-85BDC9FD1C3A}</a:tableStyleId>
              </a:tblPr>
              <a:tblGrid>
                <a:gridCol w="2377440"/>
                <a:gridCol w="4572000"/>
              </a:tblGrid>
              <a:tr h="594360">
                <a:tc>
                  <a:txBody>
                    <a:bodyPr/>
                    <a:lstStyle/>
                    <a:p>
                      <a:r>
                        <a:rPr sz="1700" b="1">
                          <a:solidFill>
                            <a:srgbClr val="E5E7E1"/>
                          </a:solidFill>
                          <a:latin typeface="Barlow"/>
                        </a:rPr>
                        <a:t>Tool category</a:t>
                      </a:r>
                    </a:p>
                  </a:txBody>
                  <a:tcPr>
                    <a:solidFill>
                      <a:srgbClr val="3A312C"/>
                    </a:solidFill>
                  </a:tcPr>
                </a:tc>
                <a:tc>
                  <a:txBody>
                    <a:bodyPr/>
                    <a:lstStyle/>
                    <a:p>
                      <a:r>
                        <a:rPr sz="1700" b="1">
                          <a:solidFill>
                            <a:srgbClr val="E5E7E1"/>
                          </a:solidFill>
                          <a:latin typeface="Barlow"/>
                        </a:rPr>
                        <a:t>What our design connects</a:t>
                      </a:r>
                    </a:p>
                  </a:txBody>
                  <a:tcPr>
                    <a:solidFill>
                      <a:srgbClr val="3A312C"/>
                    </a:solidFill>
                  </a:tcPr>
                </a:tc>
              </a:tr>
              <a:tr h="594360">
                <a:tc>
                  <a:txBody>
                    <a:bodyPr/>
                    <a:lstStyle/>
                    <a:p>
                      <a:r>
                        <a:rPr sz="1700" b="1">
                          <a:solidFill>
                            <a:srgbClr val="E5E7E1"/>
                          </a:solidFill>
                          <a:latin typeface="Barlow"/>
                        </a:rPr>
                        <a:t>Incident maps</a:t>
                      </a:r>
                    </a:p>
                  </a:txBody>
                  <a:tcPr>
                    <a:solidFill>
                      <a:srgbClr val="2B231F"/>
                    </a:solidFill>
                  </a:tcPr>
                </a:tc>
                <a:tc>
                  <a:txBody>
                    <a:bodyPr/>
                    <a:lstStyle/>
                    <a:p>
                      <a:r>
                        <a:rPr sz="1700" b="0">
                          <a:solidFill>
                            <a:srgbClr val="E5E7E1"/>
                          </a:solidFill>
                          <a:latin typeface="Barlow"/>
                        </a:rPr>
                        <a:t>Geographic context → household outreach queue</a:t>
                      </a:r>
                    </a:p>
                  </a:txBody>
                  <a:tcPr>
                    <a:solidFill>
                      <a:srgbClr val="2B231F"/>
                    </a:solidFill>
                  </a:tcPr>
                </a:tc>
              </a:tr>
              <a:tr h="594360">
                <a:tc>
                  <a:txBody>
                    <a:bodyPr/>
                    <a:lstStyle/>
                    <a:p>
                      <a:r>
                        <a:rPr sz="1700" b="1">
                          <a:solidFill>
                            <a:srgbClr val="E5E7E1"/>
                          </a:solidFill>
                          <a:latin typeface="Barlow"/>
                        </a:rPr>
                        <a:t>Notification systems</a:t>
                      </a:r>
                    </a:p>
                  </a:txBody>
                  <a:tcPr>
                    <a:solidFill>
                      <a:srgbClr val="2B231F"/>
                    </a:solidFill>
                  </a:tcPr>
                </a:tc>
                <a:tc>
                  <a:txBody>
                    <a:bodyPr/>
                    <a:lstStyle/>
                    <a:p>
                      <a:r>
                        <a:rPr sz="1700" b="0">
                          <a:solidFill>
                            <a:srgbClr val="E5E7E1"/>
                          </a:solidFill>
                          <a:latin typeface="Barlow"/>
                        </a:rPr>
                        <a:t>Recipient ordering → visible unresolved contacts</a:t>
                      </a:r>
                    </a:p>
                  </a:txBody>
                  <a:tcPr>
                    <a:solidFill>
                      <a:srgbClr val="2B231F"/>
                    </a:solidFill>
                  </a:tcPr>
                </a:tc>
              </a:tr>
              <a:tr h="594360">
                <a:tc>
                  <a:txBody>
                    <a:bodyPr/>
                    <a:lstStyle/>
                    <a:p>
                      <a:r>
                        <a:rPr sz="1700" b="1">
                          <a:solidFill>
                            <a:srgbClr val="E5E7E1"/>
                          </a:solidFill>
                          <a:latin typeface="Barlow"/>
                        </a:rPr>
                        <a:t>Prevention models</a:t>
                      </a:r>
                    </a:p>
                  </a:txBody>
                  <a:tcPr>
                    <a:solidFill>
                      <a:srgbClr val="2B231F"/>
                    </a:solidFill>
                  </a:tcPr>
                </a:tc>
                <a:tc>
                  <a:txBody>
                    <a:bodyPr/>
                    <a:lstStyle/>
                    <a:p>
                      <a:r>
                        <a:rPr sz="1700" b="0">
                          <a:solidFill>
                            <a:srgbClr val="E5E7E1"/>
                          </a:solidFill>
                          <a:latin typeface="Barlow"/>
                        </a:rPr>
                        <a:t>Treatment exploration → the same incident-area workflow</a:t>
                      </a:r>
                    </a:p>
                  </a:txBody>
                  <a:tcPr>
                    <a:solidFill>
                      <a:srgbClr val="2B231F"/>
                    </a:solidFill>
                  </a:tcPr>
                </a:tc>
              </a:tr>
            </a:tbl>
          </a:graphicData>
        </a:graphic>
      </p:graphicFrame>
      <p:sp>
        <p:nvSpPr>
          <p:cNvPr id="6" name="TextBox 5"/>
          <p:cNvSpPr txBox="1"/>
          <p:nvPr/>
        </p:nvSpPr>
        <p:spPr>
          <a:xfrm>
            <a:off x="548640" y="4206240"/>
            <a:ext cx="7223760" cy="457200"/>
          </a:xfrm>
          <a:prstGeom prst="rect">
            <a:avLst/>
          </a:prstGeom>
          <a:noFill/>
        </p:spPr>
        <p:txBody>
          <a:bodyPr wrap="square" lIns="18288" rIns="18288" tIns="18288" bIns="18288" anchor="t">
            <a:spAutoFit/>
          </a:bodyPr>
          <a:lstStyle/>
          <a:p>
            <a:pPr algn="l">
              <a:lnSpc>
                <a:spcPct val="110000"/>
              </a:lnSpc>
            </a:pPr>
            <a:r>
              <a:rPr sz="2400" b="1" i="0">
                <a:solidFill>
                  <a:srgbClr val="E5E7E1"/>
                </a:solidFill>
                <a:latin typeface="Barlow"/>
              </a:rPr>
              <a:t>Prepare before the fire. Prioritize outreach during it.</a:t>
            </a:r>
          </a:p>
        </p:txBody>
      </p:sp>
      <p:sp>
        <p:nvSpPr>
          <p:cNvPr id="7" name="TextBox 6"/>
          <p:cNvSpPr txBox="1"/>
          <p:nvPr/>
        </p:nvSpPr>
        <p:spPr>
          <a:xfrm>
            <a:off x="548640" y="4754880"/>
            <a:ext cx="7223760" cy="411480"/>
          </a:xfrm>
          <a:prstGeom prst="rect">
            <a:avLst/>
          </a:prstGeom>
          <a:noFill/>
        </p:spPr>
        <p:txBody>
          <a:bodyPr wrap="square" lIns="18288" rIns="18288" tIns="18288" bIns="18288" anchor="t">
            <a:spAutoFit/>
          </a:bodyPr>
          <a:lstStyle/>
          <a:p>
            <a:pPr algn="l">
              <a:lnSpc>
                <a:spcPct val="110000"/>
              </a:lnSpc>
            </a:pPr>
            <a:r>
              <a:rPr sz="1800" b="0" i="0">
                <a:solidFill>
                  <a:srgbClr val="A9ABA4"/>
                </a:solidFill>
                <a:latin typeface="Barlow"/>
              </a:rPr>
              <a:t>Next: a consenting-volunteer pilot and verified call/SMS integration.</a:t>
            </a:r>
          </a:p>
        </p:txBody>
      </p:sp>
      <p:sp>
        <p:nvSpPr>
          <p:cNvPr id="8" name="TextBox 7"/>
          <p:cNvSpPr txBox="1"/>
          <p:nvPr/>
        </p:nvSpPr>
        <p:spPr>
          <a:xfrm>
            <a:off x="548640" y="5349240"/>
            <a:ext cx="7223760" cy="365760"/>
          </a:xfrm>
          <a:prstGeom prst="rect">
            <a:avLst/>
          </a:prstGeom>
          <a:noFill/>
        </p:spPr>
        <p:txBody>
          <a:bodyPr wrap="square" lIns="18288" rIns="18288" tIns="18288" bIns="18288" anchor="t">
            <a:spAutoFit/>
          </a:bodyPr>
          <a:lstStyle/>
          <a:p>
            <a:pPr algn="l">
              <a:lnSpc>
                <a:spcPct val="110000"/>
              </a:lnSpc>
            </a:pPr>
            <a:r>
              <a:rPr sz="1400" b="0" i="0">
                <a:solidFill>
                  <a:srgbClr val="A9ABA4"/>
                </a:solidFill>
                <a:latin typeface="Barlow"/>
              </a:rPr>
              <a:t>Team: Qinchuan · Tia · Lucia — The Dual-Use Hackathon, Resilience Comms lens</a:t>
            </a:r>
          </a:p>
        </p:txBody>
      </p:sp>
      <p:pic>
        <p:nvPicPr>
          <p:cNvPr id="9" name="Picture 8" descr="P3-full.png"/>
          <p:cNvPicPr>
            <a:picLocks noChangeAspect="1"/>
          </p:cNvPicPr>
          <p:nvPr/>
        </p:nvPicPr>
        <p:blipFill>
          <a:blip r:embed="rId3"/>
          <a:stretch>
            <a:fillRect/>
          </a:stretch>
        </p:blipFill>
        <p:spPr>
          <a:xfrm>
            <a:off x="7818120" y="1600200"/>
            <a:ext cx="3840480" cy="2160270"/>
          </a:xfrm>
          <a:prstGeom prst="rect">
            <a:avLst/>
          </a:prstGeom>
          <a:ln w="9525">
            <a:solidFill>
              <a:srgbClr val="453C37"/>
            </a:solidFill>
          </a:ln>
        </p:spPr>
      </p:pic>
      <p:pic>
        <p:nvPicPr>
          <p:cNvPr id="10" name="Picture 9" descr="repo-qr.png"/>
          <p:cNvPicPr>
            <a:picLocks noChangeAspect="1"/>
          </p:cNvPicPr>
          <p:nvPr/>
        </p:nvPicPr>
        <p:blipFill>
          <a:blip r:embed="rId4"/>
          <a:stretch>
            <a:fillRect/>
          </a:stretch>
        </p:blipFill>
        <p:spPr>
          <a:xfrm>
            <a:off x="7818120" y="4343400"/>
            <a:ext cx="1600200" cy="1600200"/>
          </a:xfrm>
          <a:prstGeom prst="rect">
            <a:avLst/>
          </a:prstGeom>
        </p:spPr>
      </p:pic>
      <p:sp>
        <p:nvSpPr>
          <p:cNvPr id="11" name="TextBox 10"/>
          <p:cNvSpPr txBox="1"/>
          <p:nvPr/>
        </p:nvSpPr>
        <p:spPr>
          <a:xfrm>
            <a:off x="9555480" y="4434840"/>
            <a:ext cx="2194560" cy="1280160"/>
          </a:xfrm>
          <a:prstGeom prst="rect">
            <a:avLst/>
          </a:prstGeom>
          <a:noFill/>
        </p:spPr>
        <p:txBody>
          <a:bodyPr wrap="square" lIns="18288" rIns="18288" tIns="18288" bIns="18288" anchor="t">
            <a:spAutoFit/>
          </a:bodyPr>
          <a:lstStyle/>
          <a:p>
            <a:pPr algn="l">
              <a:lnSpc>
                <a:spcPct val="100000"/>
              </a:lnSpc>
            </a:pPr>
            <a:r>
              <a:rPr sz="1400" b="1" i="0">
                <a:solidFill>
                  <a:srgbClr val="E5E7E1"/>
                </a:solidFill>
                <a:latin typeface="Barlow"/>
              </a:rPr>
              <a:t>Code repository</a:t>
            </a:r>
          </a:p>
          <a:p>
            <a:pPr algn="l">
              <a:lnSpc>
                <a:spcPct val="100000"/>
              </a:lnSpc>
            </a:pPr>
            <a:r>
              <a:rPr sz="1100" b="0" i="0">
                <a:solidFill>
                  <a:srgbClr val="A9ABA4"/>
                </a:solidFill>
                <a:latin typeface="Barlow"/>
              </a:rPr>
              <a:t>github.com/ZQC8848/WildfireTwinLA</a:t>
            </a:r>
          </a:p>
        </p:txBody>
      </p:sp>
      <p:sp>
        <p:nvSpPr>
          <p:cNvPr id="12" name="TextBox 11"/>
          <p:cNvSpPr txBox="1"/>
          <p:nvPr/>
        </p:nvSpPr>
        <p:spPr>
          <a:xfrm>
            <a:off x="548640" y="6455664"/>
            <a:ext cx="10424160" cy="274320"/>
          </a:xfrm>
          <a:prstGeom prst="rect">
            <a:avLst/>
          </a:prstGeom>
          <a:noFill/>
        </p:spPr>
        <p:txBody>
          <a:bodyPr wrap="square" lIns="18288" rIns="18288" tIns="18288" bIns="18288" anchor="t">
            <a:spAutoFit/>
          </a:bodyPr>
          <a:lstStyle/>
          <a:p>
            <a:pPr algn="l">
              <a:lnSpc>
                <a:spcPct val="110000"/>
              </a:lnSpc>
            </a:pPr>
            <a:r>
              <a:rPr sz="1200" b="0" i="0">
                <a:solidFill>
                  <a:srgbClr val="A9ABA4"/>
                </a:solidFill>
                <a:latin typeface="Barlow"/>
              </a:rPr>
              <a:t>Category comparison, not a claim about named products. Fictional demo contacts; unofficial model outputs. Follow official evacuation instructions.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